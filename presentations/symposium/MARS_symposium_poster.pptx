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75213" cy="213836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322" autoAdjust="0"/>
    <p:restoredTop sz="94660"/>
  </p:normalViewPr>
  <p:slideViewPr>
    <p:cSldViewPr snapToGrid="0">
      <p:cViewPr>
        <p:scale>
          <a:sx n="25" d="100"/>
          <a:sy n="25" d="100"/>
        </p:scale>
        <p:origin x="1872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4C069-0158-4536-8712-5B66301F7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0641" y="3499590"/>
            <a:ext cx="25733931" cy="7444669"/>
          </a:xfrm>
        </p:spPr>
        <p:txBody>
          <a:bodyPr anchor="b"/>
          <a:lstStyle>
            <a:lvl1pPr algn="ctr">
              <a:buNone/>
              <a:defRPr sz="18709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640384-3214-4EDC-BEF3-8861B0362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4402" y="11231355"/>
            <a:ext cx="22706410" cy="5162758"/>
          </a:xfrm>
        </p:spPr>
        <p:txBody>
          <a:bodyPr/>
          <a:lstStyle>
            <a:lvl1pPr marL="0" indent="0" algn="ctr">
              <a:buNone/>
              <a:defRPr sz="7483"/>
            </a:lvl1pPr>
            <a:lvl2pPr marL="1425595" indent="0" algn="ctr">
              <a:buNone/>
              <a:defRPr sz="6236"/>
            </a:lvl2pPr>
            <a:lvl3pPr marL="2851191" indent="0" algn="ctr">
              <a:buNone/>
              <a:defRPr sz="5613"/>
            </a:lvl3pPr>
            <a:lvl4pPr marL="4276786" indent="0" algn="ctr">
              <a:buNone/>
              <a:defRPr sz="4989"/>
            </a:lvl4pPr>
            <a:lvl5pPr marL="5702381" indent="0" algn="ctr">
              <a:buNone/>
              <a:defRPr sz="4989"/>
            </a:lvl5pPr>
            <a:lvl6pPr marL="7127977" indent="0" algn="ctr">
              <a:buNone/>
              <a:defRPr sz="4989"/>
            </a:lvl6pPr>
            <a:lvl7pPr marL="8553572" indent="0" algn="ctr">
              <a:buNone/>
              <a:defRPr sz="4989"/>
            </a:lvl7pPr>
            <a:lvl8pPr marL="9979167" indent="0" algn="ctr">
              <a:buNone/>
              <a:defRPr sz="4989"/>
            </a:lvl8pPr>
            <a:lvl9pPr marL="11404763" indent="0" algn="ctr">
              <a:buNone/>
              <a:defRPr sz="4989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39CB4-2314-4808-B553-308314F2F47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B4E89-5379-4E27-9088-BBF9C9FB6AC4}" type="datetimeFigureOut">
              <a:t>9/7/2026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2FA19-CC25-4A26-9AD8-BAF8A79DACC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F0C03-77E5-43D1-ADB3-5A1C59DA982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5168A6F-1080-4812-B7EE-1414132B687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D469C-4D69-4404-B371-66B78E9BA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A2773-437C-49D5-B2E0-39106537D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22E2D-6941-425A-AD95-9C61439C822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B4E89-5379-4E27-9088-BBF9C9FB6AC4}" type="datetimeFigureOut">
              <a:t>9/7/2026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D77DA-DA3A-49DB-A6D5-E192EEF663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D84D4-B65A-4510-8CB4-8835BCBE80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5168A6F-1080-4812-B7EE-1414132B687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98DA-115E-4F9C-9E6C-016975BFF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5654" y="5331063"/>
            <a:ext cx="26112371" cy="8894992"/>
          </a:xfrm>
        </p:spPr>
        <p:txBody>
          <a:bodyPr anchor="b"/>
          <a:lstStyle>
            <a:lvl1pPr>
              <a:buNone/>
              <a:defRPr sz="18709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B0492-ECBD-4A39-B69C-4B2B5C7F8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5654" y="14310205"/>
            <a:ext cx="26112371" cy="4677666"/>
          </a:xfrm>
        </p:spPr>
        <p:txBody>
          <a:bodyPr/>
          <a:lstStyle>
            <a:lvl1pPr marL="0" indent="0">
              <a:buNone/>
              <a:defRPr sz="7483">
                <a:solidFill>
                  <a:schemeClr val="tx1">
                    <a:tint val="82000"/>
                  </a:schemeClr>
                </a:solidFill>
              </a:defRPr>
            </a:lvl1pPr>
            <a:lvl2pPr marL="1425595" indent="0">
              <a:buNone/>
              <a:defRPr sz="6236">
                <a:solidFill>
                  <a:schemeClr val="tx1">
                    <a:tint val="82000"/>
                  </a:schemeClr>
                </a:solidFill>
              </a:defRPr>
            </a:lvl2pPr>
            <a:lvl3pPr marL="2851191" indent="0">
              <a:buNone/>
              <a:defRPr sz="5613">
                <a:solidFill>
                  <a:schemeClr val="tx1">
                    <a:tint val="82000"/>
                  </a:schemeClr>
                </a:solidFill>
              </a:defRPr>
            </a:lvl3pPr>
            <a:lvl4pPr marL="4276786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4pPr>
            <a:lvl5pPr marL="5702381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5pPr>
            <a:lvl6pPr marL="712797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6pPr>
            <a:lvl7pPr marL="8553572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7pPr>
            <a:lvl8pPr marL="9979167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8pPr>
            <a:lvl9pPr marL="11404763" indent="0">
              <a:buNone/>
              <a:defRPr sz="498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408D7-B539-416D-B01D-539174BA7D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B4E89-5379-4E27-9088-BBF9C9FB6AC4}" type="datetimeFigureOut">
              <a:t>9/7/2026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CE06A-CB50-4495-A3C8-7996D04FDE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BEF57-2AAB-4327-8866-119E5FA4231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5168A6F-1080-4812-B7EE-1414132B687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41516-DFE4-4C33-B201-C62F1080C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66EFB-464C-412D-9C22-5A225CF56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1421" y="5692400"/>
            <a:ext cx="12866966" cy="13567714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C9C38-65BF-48CF-B7AF-CADCC67E794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5326826" y="5692400"/>
            <a:ext cx="12866966" cy="13567714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1D2847-E653-427D-BA07-860DBFDF01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B4E89-5379-4E27-9088-BBF9C9FB6AC4}" type="datetimeFigureOut">
              <a:t>9/7/2026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D9360-651F-4C5C-AE1C-313AED328F6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F1E89-25C9-4BF1-B240-24742CA9EF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5168A6F-1080-4812-B7EE-1414132B687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F7C0B-1F50-48D7-9753-A24FA9514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4" y="1138485"/>
            <a:ext cx="26112371" cy="4133179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B7A6D-4FD0-46FB-AB3B-66EE2C47E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5368" y="5241960"/>
            <a:ext cx="12807832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5550B-8E0A-49D2-A22D-71EAA7AA9C9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2085368" y="7810963"/>
            <a:ext cx="12807832" cy="1148875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44172-F9EF-4056-A21F-C17E37BE311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5326828" y="5241960"/>
            <a:ext cx="12870909" cy="2569003"/>
          </a:xfrm>
        </p:spPr>
        <p:txBody>
          <a:bodyPr anchor="b"/>
          <a:lstStyle>
            <a:lvl1pPr marL="0" indent="0">
              <a:buNone/>
              <a:defRPr sz="7483" b="1"/>
            </a:lvl1pPr>
            <a:lvl2pPr marL="1425595" indent="0">
              <a:buNone/>
              <a:defRPr sz="6236" b="1"/>
            </a:lvl2pPr>
            <a:lvl3pPr marL="2851191" indent="0">
              <a:buNone/>
              <a:defRPr sz="5613" b="1"/>
            </a:lvl3pPr>
            <a:lvl4pPr marL="4276786" indent="0">
              <a:buNone/>
              <a:defRPr sz="4989" b="1"/>
            </a:lvl4pPr>
            <a:lvl5pPr marL="5702381" indent="0">
              <a:buNone/>
              <a:defRPr sz="4989" b="1"/>
            </a:lvl5pPr>
            <a:lvl6pPr marL="7127977" indent="0">
              <a:buNone/>
              <a:defRPr sz="4989" b="1"/>
            </a:lvl6pPr>
            <a:lvl7pPr marL="8553572" indent="0">
              <a:buNone/>
              <a:defRPr sz="4989" b="1"/>
            </a:lvl7pPr>
            <a:lvl8pPr marL="9979167" indent="0">
              <a:buNone/>
              <a:defRPr sz="4989" b="1"/>
            </a:lvl8pPr>
            <a:lvl9pPr marL="11404763" indent="0">
              <a:buNone/>
              <a:defRPr sz="4989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EA4CB-81E0-4A1A-990E-79B33DC2D3AA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5326828" y="7810963"/>
            <a:ext cx="12870909" cy="11488750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8899B4-2704-473E-908E-6AA1F0DDADF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B4E89-5379-4E27-9088-BBF9C9FB6AC4}" type="datetimeFigureOut">
              <a:t>9/7/2026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8E3F20-8626-4136-A6CC-ED9602A9E7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176A78-4968-4A6C-970C-86ACDB6485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5168A6F-1080-4812-B7EE-1414132B687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10F0F-2F26-41BD-979E-DDC86715F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246F05-9A32-4B38-8758-E10246FFC4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B4E89-5379-4E27-9088-BBF9C9FB6AC4}" type="datetimeFigureOut">
              <a:t>9/7/2026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BA317-6740-4B24-8FD2-C39F933C6C2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7A22DC-72FA-48AB-866A-9B799897C2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5168A6F-1080-4812-B7EE-1414132B687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CAED69-90A1-4EE3-B9E6-965E96072E6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B4E89-5379-4E27-9088-BBF9C9FB6AC4}" type="datetimeFigureOut">
              <a:t>9/7/2026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2BE0F-654D-40FF-A658-F63EEFE12B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453B6D-EE2F-4E05-82CD-C0919AFFB7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5168A6F-1080-4812-B7EE-1414132B687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A58D6-3D0E-42D0-8AE3-4DA8DD6F6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buNone/>
              <a:defRPr sz="9978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A8DFA-6AB3-4819-80ED-3039173F3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0909" y="3078850"/>
            <a:ext cx="15326827" cy="15196234"/>
          </a:xfrm>
        </p:spPr>
        <p:txBody>
          <a:bodyPr/>
          <a:lstStyle>
            <a:lvl1pPr>
              <a:buNone/>
              <a:defRPr sz="9978"/>
            </a:lvl1pPr>
            <a:lvl2pPr>
              <a:buNone/>
              <a:defRPr sz="8731"/>
            </a:lvl2pPr>
            <a:lvl3pPr>
              <a:buNone/>
              <a:defRPr sz="7483"/>
            </a:lvl3pPr>
            <a:lvl4pPr>
              <a:buNone/>
              <a:defRPr sz="6236"/>
            </a:lvl4pPr>
            <a:lvl5pPr>
              <a:buNone/>
              <a:defRPr sz="6236"/>
            </a:lvl5pPr>
            <a:lvl6pPr>
              <a:buNone/>
              <a:defRPr sz="6236"/>
            </a:lvl6pPr>
            <a:lvl7pPr>
              <a:buNone/>
              <a:defRPr sz="6236"/>
            </a:lvl7pPr>
            <a:lvl8pPr>
              <a:buNone/>
              <a:defRPr sz="6236"/>
            </a:lvl8pPr>
            <a:lvl9pPr>
              <a:buNone/>
              <a:defRPr sz="6236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FDD1E1-0684-49FE-80D3-EFDBE73B031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38CCF-7FD0-4177-9817-76D50D2BB2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B4E89-5379-4E27-9088-BBF9C9FB6AC4}" type="datetimeFigureOut">
              <a:t>9/7/2026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917F2-AD0D-42D5-B1E2-45660DF9C13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ACE515-954E-44C1-97DB-EBE281435C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5168A6F-1080-4812-B7EE-1414132B687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06B3-0FF9-4850-B9F8-C1E5AFBFB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364" y="1425575"/>
            <a:ext cx="9764544" cy="4989513"/>
          </a:xfrm>
        </p:spPr>
        <p:txBody>
          <a:bodyPr anchor="b"/>
          <a:lstStyle>
            <a:lvl1pPr>
              <a:buNone/>
              <a:defRPr sz="9978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77677-56D1-483E-8A86-DCB7E807D3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870909" y="3078850"/>
            <a:ext cx="15326827" cy="15196234"/>
          </a:xfrm>
        </p:spPr>
        <p:txBody>
          <a:bodyPr anchor="t"/>
          <a:lstStyle>
            <a:lvl1pPr marL="0" indent="0">
              <a:buNone/>
              <a:defRPr sz="9978"/>
            </a:lvl1pPr>
            <a:lvl2pPr marL="1425595" indent="0">
              <a:buNone/>
              <a:defRPr sz="8731"/>
            </a:lvl2pPr>
            <a:lvl3pPr marL="2851191" indent="0">
              <a:buNone/>
              <a:defRPr sz="7483"/>
            </a:lvl3pPr>
            <a:lvl4pPr marL="4276786" indent="0">
              <a:buNone/>
              <a:defRPr sz="6236"/>
            </a:lvl4pPr>
            <a:lvl5pPr marL="5702381" indent="0">
              <a:buNone/>
              <a:defRPr sz="6236"/>
            </a:lvl5pPr>
            <a:lvl6pPr marL="7127977" indent="0">
              <a:buNone/>
              <a:defRPr sz="6236"/>
            </a:lvl6pPr>
            <a:lvl7pPr marL="8553572" indent="0">
              <a:buNone/>
              <a:defRPr sz="6236"/>
            </a:lvl7pPr>
            <a:lvl8pPr marL="9979167" indent="0">
              <a:buNone/>
              <a:defRPr sz="6236"/>
            </a:lvl8pPr>
            <a:lvl9pPr marL="11404763" indent="0">
              <a:buNone/>
              <a:defRPr sz="6236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ABFB1-45E8-4B3F-AEC0-0C045BCFEBC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2085364" y="6415088"/>
            <a:ext cx="9764544" cy="11884743"/>
          </a:xfrm>
        </p:spPr>
        <p:txBody>
          <a:bodyPr/>
          <a:lstStyle>
            <a:lvl1pPr marL="0" indent="0">
              <a:buNone/>
              <a:defRPr sz="4989"/>
            </a:lvl1pPr>
            <a:lvl2pPr marL="1425595" indent="0">
              <a:buNone/>
              <a:defRPr sz="4365"/>
            </a:lvl2pPr>
            <a:lvl3pPr marL="2851191" indent="0">
              <a:buNone/>
              <a:defRPr sz="3742"/>
            </a:lvl3pPr>
            <a:lvl4pPr marL="4276786" indent="0">
              <a:buNone/>
              <a:defRPr sz="3118"/>
            </a:lvl4pPr>
            <a:lvl5pPr marL="5702381" indent="0">
              <a:buNone/>
              <a:defRPr sz="3118"/>
            </a:lvl5pPr>
            <a:lvl6pPr marL="7127977" indent="0">
              <a:buNone/>
              <a:defRPr sz="3118"/>
            </a:lvl6pPr>
            <a:lvl7pPr marL="8553572" indent="0">
              <a:buNone/>
              <a:defRPr sz="3118"/>
            </a:lvl7pPr>
            <a:lvl8pPr marL="9979167" indent="0">
              <a:buNone/>
              <a:defRPr sz="3118"/>
            </a:lvl8pPr>
            <a:lvl9pPr marL="11404763" indent="0">
              <a:buNone/>
              <a:defRPr sz="3118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7DB90E-B525-4502-9958-AB3B8E9DED9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B4E89-5379-4E27-9088-BBF9C9FB6AC4}" type="datetimeFigureOut">
              <a:t>9/7/2026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E38EC8-2EBF-44F4-8BAC-4D6392BB5E8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403B0E-698D-4829-962E-B5A24FDCCB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5168A6F-1080-4812-B7EE-1414132B687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145C3-7DC1-422E-AAD4-FD7F4E4BF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08B38D-96F2-477B-8090-69AE9B8B5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E1B59-38BF-4AF4-972F-11E78D49672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B4E89-5379-4E27-9088-BBF9C9FB6AC4}" type="datetimeFigureOut">
              <a:t>9/7/2026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C488D-D010-4578-BD4C-C76AE702768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4B134-CA04-478F-A16C-8B4BD153E7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5168A6F-1080-4812-B7EE-1414132B687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555C6D-7FA3-4CD4-B345-05C154D56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5701" y="1138480"/>
            <a:ext cx="6528093" cy="1812163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3A2C36-0A83-483E-83C8-16EBC2EAF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1423" y="1138480"/>
            <a:ext cx="19205838" cy="18121634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22439-422B-4A17-BB3D-1FDFB42B87F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8CB4E89-5379-4E27-9088-BBF9C9FB6AC4}" type="datetimeFigureOut">
              <a:t>9/7/2026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5B91F-46F4-47DB-84F0-52E7C32238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C5F54-77C7-444F-A6B5-23E8BA0DEA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95168A6F-1080-4812-B7EE-1414132B687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F630C1-2DFA-4505-80C9-ABC1A3DAA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21" y="1138485"/>
            <a:ext cx="26112371" cy="4133179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BEA7F-9F75-4094-AA78-67C91FA95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1421" y="5692400"/>
            <a:ext cx="26112371" cy="13567714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CD709-4487-4878-8588-BAA1F6645B81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2081421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CB4E89-5379-4E27-9088-BBF9C9FB6AC4}" type="datetimeFigureOut">
              <a:t>9/7/2026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A0348-1B80-4C60-A462-A2BEB00A636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0028665" y="19819457"/>
            <a:ext cx="10217884" cy="113848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242CC-2876-4D6F-8871-F8D5D774208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21381869" y="19819457"/>
            <a:ext cx="6811923" cy="1138480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68A6F-1080-4812-B7EE-1414132B687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851191">
        <a:lnSpc>
          <a:spcPct val="90000"/>
        </a:lnSpc>
        <a:spcBef>
          <a:spcPct val="0"/>
        </a:spcBef>
        <a:buNone/>
        <a:defRPr sz="1372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712798" indent="-712798" algn="l" defTabSz="2851191">
        <a:lnSpc>
          <a:spcPct val="90000"/>
        </a:lnSpc>
        <a:spcBef>
          <a:spcPts val="3118"/>
        </a:spcBef>
        <a:buFont typeface="Arial"/>
        <a:buChar char="•"/>
        <a:defRPr sz="8731" kern="1200">
          <a:solidFill>
            <a:schemeClr val="tx1"/>
          </a:solidFill>
          <a:latin typeface="+mn-lt"/>
          <a:ea typeface="+mn-lt"/>
          <a:cs typeface="+mn-lt"/>
        </a:defRPr>
      </a:lvl1pPr>
      <a:lvl2pPr marL="2138393" indent="-712798" algn="l" defTabSz="2851191">
        <a:lnSpc>
          <a:spcPct val="90000"/>
        </a:lnSpc>
        <a:spcBef>
          <a:spcPts val="1559"/>
        </a:spcBef>
        <a:buFont typeface="Arial"/>
        <a:buChar char="•"/>
        <a:defRPr sz="7483" kern="1200">
          <a:solidFill>
            <a:schemeClr val="tx1"/>
          </a:solidFill>
          <a:latin typeface="+mn-lt"/>
          <a:ea typeface="+mn-lt"/>
          <a:cs typeface="+mn-lt"/>
        </a:defRPr>
      </a:lvl2pPr>
      <a:lvl3pPr marL="3563988" indent="-712798" algn="l" defTabSz="2851191">
        <a:lnSpc>
          <a:spcPct val="90000"/>
        </a:lnSpc>
        <a:spcBef>
          <a:spcPts val="1559"/>
        </a:spcBef>
        <a:buFont typeface="Arial"/>
        <a:buChar char="•"/>
        <a:defRPr sz="6236" kern="1200">
          <a:solidFill>
            <a:schemeClr val="tx1"/>
          </a:solidFill>
          <a:latin typeface="+mn-lt"/>
          <a:ea typeface="+mn-lt"/>
          <a:cs typeface="+mn-lt"/>
        </a:defRPr>
      </a:lvl3pPr>
      <a:lvl4pPr marL="4989584" indent="-712798" algn="l" defTabSz="2851191">
        <a:lnSpc>
          <a:spcPct val="90000"/>
        </a:lnSpc>
        <a:spcBef>
          <a:spcPts val="1559"/>
        </a:spcBef>
        <a:buFont typeface="Arial"/>
        <a:buChar char="•"/>
        <a:defRPr sz="5613" kern="1200">
          <a:solidFill>
            <a:schemeClr val="tx1"/>
          </a:solidFill>
          <a:latin typeface="+mn-lt"/>
          <a:ea typeface="+mn-lt"/>
          <a:cs typeface="+mn-lt"/>
        </a:defRPr>
      </a:lvl4pPr>
      <a:lvl5pPr marL="6415179" indent="-712798" algn="l" defTabSz="2851191">
        <a:lnSpc>
          <a:spcPct val="90000"/>
        </a:lnSpc>
        <a:spcBef>
          <a:spcPts val="1559"/>
        </a:spcBef>
        <a:buFont typeface="Arial"/>
        <a:buChar char="•"/>
        <a:defRPr sz="5613" kern="1200">
          <a:solidFill>
            <a:schemeClr val="tx1"/>
          </a:solidFill>
          <a:latin typeface="+mn-lt"/>
          <a:ea typeface="+mn-lt"/>
          <a:cs typeface="+mn-lt"/>
        </a:defRPr>
      </a:lvl5pPr>
      <a:lvl6pPr marL="7840774" indent="-712798" algn="l" defTabSz="2851191">
        <a:lnSpc>
          <a:spcPct val="90000"/>
        </a:lnSpc>
        <a:spcBef>
          <a:spcPts val="1559"/>
        </a:spcBef>
        <a:buFont typeface="Arial"/>
        <a:buChar char="•"/>
        <a:defRPr sz="5613" kern="1200">
          <a:solidFill>
            <a:schemeClr val="tx1"/>
          </a:solidFill>
          <a:latin typeface="+mn-lt"/>
          <a:ea typeface="+mn-lt"/>
          <a:cs typeface="+mn-lt"/>
        </a:defRPr>
      </a:lvl6pPr>
      <a:lvl7pPr marL="9266370" indent="-712798" algn="l" defTabSz="2851191">
        <a:lnSpc>
          <a:spcPct val="90000"/>
        </a:lnSpc>
        <a:spcBef>
          <a:spcPts val="1559"/>
        </a:spcBef>
        <a:buFont typeface="Arial"/>
        <a:buChar char="•"/>
        <a:defRPr sz="5613" kern="1200">
          <a:solidFill>
            <a:schemeClr val="tx1"/>
          </a:solidFill>
          <a:latin typeface="+mn-lt"/>
          <a:ea typeface="+mn-lt"/>
          <a:cs typeface="+mn-lt"/>
        </a:defRPr>
      </a:lvl7pPr>
      <a:lvl8pPr marL="10691965" indent="-712798" algn="l" defTabSz="2851191">
        <a:lnSpc>
          <a:spcPct val="90000"/>
        </a:lnSpc>
        <a:spcBef>
          <a:spcPts val="1559"/>
        </a:spcBef>
        <a:buFont typeface="Arial"/>
        <a:buChar char="•"/>
        <a:defRPr sz="5613" kern="1200">
          <a:solidFill>
            <a:schemeClr val="tx1"/>
          </a:solidFill>
          <a:latin typeface="+mn-lt"/>
          <a:ea typeface="+mn-lt"/>
          <a:cs typeface="+mn-lt"/>
        </a:defRPr>
      </a:lvl8pPr>
      <a:lvl9pPr marL="12117560" indent="-712798" algn="l" defTabSz="2851191">
        <a:lnSpc>
          <a:spcPct val="90000"/>
        </a:lnSpc>
        <a:spcBef>
          <a:spcPts val="1559"/>
        </a:spcBef>
        <a:buFont typeface="Arial"/>
        <a:buChar char="•"/>
        <a:defRPr sz="561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2851191">
        <a:buNone/>
        <a:defRPr sz="5613" kern="1200">
          <a:solidFill>
            <a:schemeClr val="tx1"/>
          </a:solidFill>
          <a:latin typeface="+mn-lt"/>
          <a:ea typeface="+mn-lt"/>
          <a:cs typeface="+mn-lt"/>
        </a:defRPr>
      </a:lvl1pPr>
      <a:lvl2pPr marL="1425595" algn="l" defTabSz="2851191">
        <a:buNone/>
        <a:defRPr sz="5613" kern="1200">
          <a:solidFill>
            <a:schemeClr val="tx1"/>
          </a:solidFill>
          <a:latin typeface="+mn-lt"/>
          <a:ea typeface="+mn-lt"/>
          <a:cs typeface="+mn-lt"/>
        </a:defRPr>
      </a:lvl2pPr>
      <a:lvl3pPr marL="2851191" algn="l" defTabSz="2851191">
        <a:buNone/>
        <a:defRPr sz="5613" kern="1200">
          <a:solidFill>
            <a:schemeClr val="tx1"/>
          </a:solidFill>
          <a:latin typeface="+mn-lt"/>
          <a:ea typeface="+mn-lt"/>
          <a:cs typeface="+mn-lt"/>
        </a:defRPr>
      </a:lvl3pPr>
      <a:lvl4pPr marL="4276786" algn="l" defTabSz="2851191">
        <a:buNone/>
        <a:defRPr sz="5613" kern="1200">
          <a:solidFill>
            <a:schemeClr val="tx1"/>
          </a:solidFill>
          <a:latin typeface="+mn-lt"/>
          <a:ea typeface="+mn-lt"/>
          <a:cs typeface="+mn-lt"/>
        </a:defRPr>
      </a:lvl4pPr>
      <a:lvl5pPr marL="5702381" algn="l" defTabSz="2851191">
        <a:buNone/>
        <a:defRPr sz="5613" kern="1200">
          <a:solidFill>
            <a:schemeClr val="tx1"/>
          </a:solidFill>
          <a:latin typeface="+mn-lt"/>
          <a:ea typeface="+mn-lt"/>
          <a:cs typeface="+mn-lt"/>
        </a:defRPr>
      </a:lvl5pPr>
      <a:lvl6pPr marL="7127977" algn="l" defTabSz="2851191">
        <a:buNone/>
        <a:defRPr sz="5613" kern="1200">
          <a:solidFill>
            <a:schemeClr val="tx1"/>
          </a:solidFill>
          <a:latin typeface="+mn-lt"/>
          <a:ea typeface="+mn-lt"/>
          <a:cs typeface="+mn-lt"/>
        </a:defRPr>
      </a:lvl6pPr>
      <a:lvl7pPr marL="8553572" algn="l" defTabSz="2851191">
        <a:buNone/>
        <a:defRPr sz="5613" kern="1200">
          <a:solidFill>
            <a:schemeClr val="tx1"/>
          </a:solidFill>
          <a:latin typeface="+mn-lt"/>
          <a:ea typeface="+mn-lt"/>
          <a:cs typeface="+mn-lt"/>
        </a:defRPr>
      </a:lvl7pPr>
      <a:lvl8pPr marL="9979167" algn="l" defTabSz="2851191">
        <a:buNone/>
        <a:defRPr sz="5613" kern="1200">
          <a:solidFill>
            <a:schemeClr val="tx1"/>
          </a:solidFill>
          <a:latin typeface="+mn-lt"/>
          <a:ea typeface="+mn-lt"/>
          <a:cs typeface="+mn-lt"/>
        </a:defRPr>
      </a:lvl8pPr>
      <a:lvl9pPr marL="11404763" algn="l" defTabSz="2851191">
        <a:buNone/>
        <a:defRPr sz="561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png"/><Relationship Id="rId50" Type="http://schemas.openxmlformats.org/officeDocument/2006/relationships/image" Target="../media/image48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svg"/><Relationship Id="rId49" Type="http://schemas.openxmlformats.org/officeDocument/2006/relationships/image" Target="../media/image47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29.svg"/><Relationship Id="rId44" Type="http://schemas.openxmlformats.org/officeDocument/2006/relationships/image" Target="../media/image42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48" Type="http://schemas.openxmlformats.org/officeDocument/2006/relationships/image" Target="../media/image46.png"/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3D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2751621-BA04-DFCF-84CB-2FADADD8F288}"/>
              </a:ext>
            </a:extLst>
          </p:cNvPr>
          <p:cNvSpPr>
            <a:spLocks noGrp="1"/>
          </p:cNvSpPr>
          <p:nvPr/>
        </p:nvSpPr>
        <p:spPr>
          <a:xfrm>
            <a:off x="279419" y="19468161"/>
            <a:ext cx="29658947" cy="113745"/>
          </a:xfrm>
          <a:prstGeom prst="rect">
            <a:avLst/>
          </a:prstGeom>
          <a:solidFill>
            <a:srgbClr val="8EA927"/>
          </a:solidFill>
          <a:ln>
            <a:solidFill>
              <a:srgbClr val="8EA9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93" name="Picture 18"/>
          <p:cNvPicPr>
            <a:picLocks noChangeAspect="1"/>
          </p:cNvPicPr>
          <p:nvPr/>
        </p:nvPicPr>
        <p:blipFill>
          <a:blip r:embed="rId3"/>
          <a:srcRect r="42123"/>
          <a:stretch>
            <a:fillRect/>
          </a:stretch>
        </p:blipFill>
        <p:spPr>
          <a:xfrm>
            <a:off x="1786743" y="284614"/>
            <a:ext cx="17522314" cy="2858941"/>
          </a:xfrm>
          <a:prstGeom prst="rect">
            <a:avLst/>
          </a:prstGeom>
        </p:spPr>
      </p:pic>
      <p:pic>
        <p:nvPicPr>
          <p:cNvPr id="194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86186" y="180701"/>
            <a:ext cx="10133966" cy="3066769"/>
          </a:xfrm>
          <a:prstGeom prst="rect">
            <a:avLst/>
          </a:prstGeom>
        </p:spPr>
      </p:pic>
      <p:pic>
        <p:nvPicPr>
          <p:cNvPr id="19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205" y="421370"/>
            <a:ext cx="2500130" cy="2403970"/>
          </a:xfrm>
          <a:prstGeom prst="rect">
            <a:avLst/>
          </a:prstGeom>
        </p:spPr>
      </p:pic>
      <p:pic>
        <p:nvPicPr>
          <p:cNvPr id="196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899" y="3219327"/>
            <a:ext cx="6938009" cy="7149529"/>
          </a:xfrm>
          <a:prstGeom prst="rect">
            <a:avLst/>
          </a:prstGeom>
        </p:spPr>
      </p:pic>
      <p:pic>
        <p:nvPicPr>
          <p:cNvPr id="197" name="Picture 4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90165" y="1893555"/>
            <a:ext cx="2670503" cy="1038831"/>
          </a:xfrm>
          <a:prstGeom prst="rect">
            <a:avLst/>
          </a:prstGeom>
        </p:spPr>
      </p:pic>
      <p:pic>
        <p:nvPicPr>
          <p:cNvPr id="198" name="Picture 4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48834" y="1976316"/>
            <a:ext cx="1923845" cy="500291"/>
          </a:xfrm>
          <a:prstGeom prst="rect">
            <a:avLst/>
          </a:prstGeom>
        </p:spPr>
      </p:pic>
      <p:pic>
        <p:nvPicPr>
          <p:cNvPr id="199" name="Picture 4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75443" y="2448092"/>
            <a:ext cx="3025123" cy="500291"/>
          </a:xfrm>
          <a:prstGeom prst="rect">
            <a:avLst/>
          </a:prstGeom>
        </p:spPr>
      </p:pic>
      <p:pic>
        <p:nvPicPr>
          <p:cNvPr id="200" name="Picture 5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8080" y="901224"/>
            <a:ext cx="4688197" cy="627258"/>
          </a:xfrm>
          <a:prstGeom prst="rect">
            <a:avLst/>
          </a:prstGeom>
        </p:spPr>
      </p:pic>
      <p:pic>
        <p:nvPicPr>
          <p:cNvPr id="201" name="Picture 5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5715" y="901224"/>
            <a:ext cx="3864370" cy="627258"/>
          </a:xfrm>
          <a:prstGeom prst="rect">
            <a:avLst/>
          </a:prstGeom>
        </p:spPr>
      </p:pic>
      <p:pic>
        <p:nvPicPr>
          <p:cNvPr id="202" name="Picture 6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719523" y="920449"/>
            <a:ext cx="7163947" cy="627258"/>
          </a:xfrm>
          <a:prstGeom prst="rect">
            <a:avLst/>
          </a:prstGeom>
        </p:spPr>
      </p:pic>
      <p:pic>
        <p:nvPicPr>
          <p:cNvPr id="203" name="Picture 6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52347" y="844891"/>
            <a:ext cx="267176" cy="693857"/>
          </a:xfrm>
          <a:prstGeom prst="rect">
            <a:avLst/>
          </a:prstGeom>
        </p:spPr>
      </p:pic>
      <p:pic>
        <p:nvPicPr>
          <p:cNvPr id="204" name="Picture 6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62408" y="926410"/>
            <a:ext cx="267176" cy="693857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3DA68F7F-5E5C-D445-99D1-C8CDF696B134}"/>
              </a:ext>
            </a:extLst>
          </p:cNvPr>
          <p:cNvSpPr>
            <a:spLocks noGrp="1"/>
          </p:cNvSpPr>
          <p:nvPr/>
        </p:nvSpPr>
        <p:spPr>
          <a:xfrm>
            <a:off x="387920" y="19825970"/>
            <a:ext cx="951860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REFERENCES:</a:t>
            </a:r>
          </a:p>
          <a:p>
            <a:r>
              <a:rPr sz="140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[1] H. Al-Sahaf </a:t>
            </a:r>
            <a:r>
              <a:rPr sz="1400" i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et al.</a:t>
            </a:r>
            <a:r>
              <a:rPr sz="140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, </a:t>
            </a:r>
            <a:r>
              <a:rPr sz="1400" i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IEEE TEVC</a:t>
            </a:r>
            <a:r>
              <a:rPr sz="140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, 21(1):83–101, 2017.                  [4] F. Liu </a:t>
            </a:r>
            <a:r>
              <a:rPr sz="1400" i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et al.</a:t>
            </a:r>
            <a:r>
              <a:rPr sz="140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, </a:t>
            </a:r>
            <a:r>
              <a:rPr sz="1400" i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ICML</a:t>
            </a:r>
            <a:r>
              <a:rPr sz="140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, pp. 32201–32223, 2024.</a:t>
            </a:r>
          </a:p>
          <a:p>
            <a:r>
              <a:rPr sz="140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[2] Y. Bi </a:t>
            </a:r>
            <a:r>
              <a:rPr sz="1400" i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et al.</a:t>
            </a:r>
            <a:r>
              <a:rPr sz="140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, </a:t>
            </a:r>
            <a:r>
              <a:rPr sz="1400" i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IEEE TEVC</a:t>
            </a:r>
            <a:r>
              <a:rPr sz="140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, 25(1):87–101, 2021.                              [5] P. Shojaee </a:t>
            </a:r>
            <a:r>
              <a:rPr sz="1400" i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et al.</a:t>
            </a:r>
            <a:r>
              <a:rPr sz="140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, </a:t>
            </a:r>
            <a:r>
              <a:rPr sz="1400" i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ICLR</a:t>
            </a:r>
            <a:r>
              <a:rPr sz="140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, 2025.</a:t>
            </a:r>
          </a:p>
          <a:p>
            <a:r>
              <a:rPr sz="140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[3] B. Romera-Paredes </a:t>
            </a:r>
            <a:r>
              <a:rPr sz="1400" i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et al.</a:t>
            </a:r>
            <a:r>
              <a:rPr sz="140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, </a:t>
            </a:r>
            <a:r>
              <a:rPr sz="1400" i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Nature</a:t>
            </a:r>
            <a:r>
              <a:rPr sz="140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, 625:468–475, 2024. 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D7DA6EA-5410-619F-8DC4-57F81CF84D87}"/>
              </a:ext>
            </a:extLst>
          </p:cNvPr>
          <p:cNvSpPr>
            <a:spLocks noGrp="1"/>
          </p:cNvSpPr>
          <p:nvPr/>
        </p:nvSpPr>
        <p:spPr>
          <a:xfrm>
            <a:off x="10110695" y="19817699"/>
            <a:ext cx="675894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CONTACT:</a:t>
            </a:r>
          </a:p>
          <a:p>
            <a:r>
              <a:rPr sz="1400" b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James Davies</a:t>
            </a:r>
            <a:br/>
            <a:r>
              <a:rPr sz="140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MSci Mathematics &amp; Statistics, Lancaster University</a:t>
            </a:r>
            <a:br/>
            <a:r>
              <a:rPr sz="1400" b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GitHub:</a:t>
            </a:r>
            <a:r>
              <a:rPr sz="140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 Scan the QR code to view the project repository and code</a:t>
            </a:r>
            <a:r>
              <a:rPr sz="1400"/>
              <a:t>.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5B952D-EBE6-E137-3C31-04BB7A8A02EE}"/>
              </a:ext>
            </a:extLst>
          </p:cNvPr>
          <p:cNvSpPr>
            <a:spLocks noGrp="1"/>
          </p:cNvSpPr>
          <p:nvPr/>
        </p:nvSpPr>
        <p:spPr>
          <a:xfrm>
            <a:off x="16545170" y="19817699"/>
            <a:ext cx="620683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dirty="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ACKNOWLEDGEMENTS:</a:t>
            </a:r>
            <a:br>
              <a:rPr dirty="0"/>
            </a:br>
            <a:r>
              <a:rPr sz="1400" dirty="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This research was conducted as part of the </a:t>
            </a:r>
            <a:r>
              <a:rPr sz="1400" b="1" dirty="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Mathematics for AI in Real-world Systems (MARS)</a:t>
            </a:r>
            <a:r>
              <a:rPr sz="1400" dirty="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 </a:t>
            </a:r>
            <a:r>
              <a:rPr sz="1400" dirty="0" err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programme</a:t>
            </a:r>
            <a:r>
              <a:rPr sz="1400" dirty="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 at Lancaster University, under the supervision of </a:t>
            </a:r>
            <a:r>
              <a:rPr sz="1400" b="1" dirty="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Dr Jixiang Qing</a:t>
            </a:r>
            <a:r>
              <a:rPr sz="1400" dirty="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, with support from </a:t>
            </a:r>
            <a:r>
              <a:rPr sz="1400" b="1" dirty="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Reliable Insights</a:t>
            </a:r>
            <a:r>
              <a:rPr sz="1400" dirty="0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.</a:t>
            </a:r>
          </a:p>
        </p:txBody>
      </p:sp>
      <p:pic>
        <p:nvPicPr>
          <p:cNvPr id="208" name="Picture 7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286631" y="19789791"/>
            <a:ext cx="1441289" cy="14400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61EFA848-D0B3-1E13-5B39-8BD70C659777}"/>
              </a:ext>
            </a:extLst>
          </p:cNvPr>
          <p:cNvSpPr>
            <a:spLocks noGrp="1"/>
          </p:cNvSpPr>
          <p:nvPr/>
        </p:nvSpPr>
        <p:spPr>
          <a:xfrm>
            <a:off x="23304110" y="20002595"/>
            <a:ext cx="45322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chemeClr val="bg1"/>
                </a:solidFill>
                <a:latin typeface="Sans Serif Collection"/>
                <a:ea typeface="Sans Serif Collection"/>
                <a:cs typeface="Sans Serif Collection"/>
              </a:rPr>
              <a:t>PROJECT CODE &amp; FURTHER ANALYSIS: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BD7C9C9-50F4-7609-44F5-C805892158C8}"/>
              </a:ext>
            </a:extLst>
          </p:cNvPr>
          <p:cNvSpPr>
            <a:spLocks noGrp="1"/>
          </p:cNvSpPr>
          <p:nvPr/>
        </p:nvSpPr>
        <p:spPr>
          <a:xfrm>
            <a:off x="240642" y="3040199"/>
            <a:ext cx="29760894" cy="103356"/>
          </a:xfrm>
          <a:prstGeom prst="rect">
            <a:avLst/>
          </a:prstGeom>
          <a:solidFill>
            <a:srgbClr val="8EA927"/>
          </a:solidFill>
          <a:ln>
            <a:solidFill>
              <a:srgbClr val="8EA9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1" name="Picture 79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52009" y="2034466"/>
            <a:ext cx="8727411" cy="627258"/>
          </a:xfrm>
          <a:prstGeom prst="rect">
            <a:avLst/>
          </a:prstGeom>
        </p:spPr>
      </p:pic>
      <p:pic>
        <p:nvPicPr>
          <p:cNvPr id="212" name="Picture 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561380" y="1177801"/>
            <a:ext cx="1433024" cy="1169969"/>
          </a:xfrm>
          <a:prstGeom prst="rect">
            <a:avLst/>
          </a:prstGeom>
        </p:spPr>
      </p:pic>
      <p:pic>
        <p:nvPicPr>
          <p:cNvPr id="213" name="Picture 13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416758" y="816454"/>
            <a:ext cx="1722269" cy="394924"/>
          </a:xfrm>
          <a:prstGeom prst="rect">
            <a:avLst/>
          </a:prstGeom>
        </p:spPr>
      </p:pic>
      <p:pic>
        <p:nvPicPr>
          <p:cNvPr id="214" name="Picture 15"/>
          <p:cNvPicPr>
            <a:picLocks noChangeAspect="1"/>
          </p:cNvPicPr>
          <p:nvPr/>
        </p:nvPicPr>
        <p:blipFill>
          <a:blip r:embed="rId18"/>
          <a:srcRect l="1" t="757" r="37190" b="90254"/>
          <a:stretch>
            <a:fillRect/>
          </a:stretch>
        </p:blipFill>
        <p:spPr>
          <a:xfrm>
            <a:off x="323330" y="10512655"/>
            <a:ext cx="12120786" cy="1264949"/>
          </a:xfrm>
          <a:prstGeom prst="rect">
            <a:avLst/>
          </a:prstGeom>
        </p:spPr>
      </p:pic>
      <p:pic>
        <p:nvPicPr>
          <p:cNvPr id="215" name="Picture 23"/>
          <p:cNvPicPr>
            <a:picLocks noChangeAspect="1"/>
          </p:cNvPicPr>
          <p:nvPr/>
        </p:nvPicPr>
        <p:blipFill>
          <a:blip r:embed="rId19"/>
          <a:srcRect l="306" t="19227" r="29861" b="20668"/>
          <a:stretch>
            <a:fillRect/>
          </a:stretch>
        </p:blipFill>
        <p:spPr>
          <a:xfrm>
            <a:off x="431280" y="12282784"/>
            <a:ext cx="7944997" cy="4916607"/>
          </a:xfrm>
          <a:prstGeom prst="rect">
            <a:avLst/>
          </a:prstGeom>
        </p:spPr>
      </p:pic>
      <p:pic>
        <p:nvPicPr>
          <p:cNvPr id="216" name="Picture 30"/>
          <p:cNvPicPr>
            <a:picLocks noChangeAspect="1"/>
          </p:cNvPicPr>
          <p:nvPr/>
        </p:nvPicPr>
        <p:blipFill>
          <a:blip r:embed="rId20"/>
          <a:srcRect l="70226" t="8654" b="18519"/>
          <a:stretch>
            <a:fillRect/>
          </a:stretch>
        </p:blipFill>
        <p:spPr>
          <a:xfrm>
            <a:off x="8321021" y="11696282"/>
            <a:ext cx="4231046" cy="7563718"/>
          </a:xfrm>
          <a:prstGeom prst="rect">
            <a:avLst/>
          </a:prstGeom>
        </p:spPr>
      </p:pic>
      <p:pic>
        <p:nvPicPr>
          <p:cNvPr id="217" name="Picture 33"/>
          <p:cNvPicPr>
            <a:picLocks noChangeAspect="1"/>
          </p:cNvPicPr>
          <p:nvPr/>
        </p:nvPicPr>
        <p:blipFill>
          <a:blip r:embed="rId19"/>
          <a:srcRect l="8" t="10109" r="47106" b="84117"/>
          <a:stretch>
            <a:fillRect/>
          </a:stretch>
        </p:blipFill>
        <p:spPr>
          <a:xfrm>
            <a:off x="443932" y="11679138"/>
            <a:ext cx="7918476" cy="632477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08AA006F-083F-3DBB-886E-7D16136DB52E}"/>
              </a:ext>
            </a:extLst>
          </p:cNvPr>
          <p:cNvSpPr>
            <a:spLocks noGrp="1"/>
          </p:cNvSpPr>
          <p:nvPr/>
        </p:nvSpPr>
        <p:spPr>
          <a:xfrm>
            <a:off x="677205" y="11154884"/>
            <a:ext cx="11899547" cy="46290"/>
          </a:xfrm>
          <a:prstGeom prst="rect">
            <a:avLst/>
          </a:prstGeom>
          <a:solidFill>
            <a:srgbClr val="8EA927"/>
          </a:solidFill>
          <a:ln>
            <a:solidFill>
              <a:srgbClr val="8EA9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9" name="Picture 39"/>
          <p:cNvPicPr>
            <a:picLocks noChangeAspect="1"/>
          </p:cNvPicPr>
          <p:nvPr/>
        </p:nvPicPr>
        <p:blipFill>
          <a:blip r:embed="rId21"/>
          <a:srcRect t="82223" r="50433" b="-1010"/>
          <a:stretch>
            <a:fillRect/>
          </a:stretch>
        </p:blipFill>
        <p:spPr>
          <a:xfrm>
            <a:off x="370964" y="17165626"/>
            <a:ext cx="7913877" cy="2193762"/>
          </a:xfrm>
          <a:prstGeom prst="rect">
            <a:avLst/>
          </a:prstGeom>
        </p:spPr>
      </p:pic>
      <p:pic>
        <p:nvPicPr>
          <p:cNvPr id="220" name="Picture 52"/>
          <p:cNvPicPr>
            <a:picLocks noChangeAspect="1"/>
          </p:cNvPicPr>
          <p:nvPr/>
        </p:nvPicPr>
        <p:blipFill>
          <a:blip r:embed="rId20"/>
          <a:srcRect l="70227" t="10091" r="3722" b="58201"/>
          <a:stretch>
            <a:fillRect/>
          </a:stretch>
        </p:blipFill>
        <p:spPr>
          <a:xfrm>
            <a:off x="8359355" y="11621136"/>
            <a:ext cx="4092992" cy="3640913"/>
          </a:xfrm>
          <a:prstGeom prst="rect">
            <a:avLst/>
          </a:prstGeom>
        </p:spPr>
      </p:pic>
      <p:pic>
        <p:nvPicPr>
          <p:cNvPr id="221" name="Picture 54"/>
          <p:cNvPicPr>
            <a:picLocks noChangeAspect="1"/>
          </p:cNvPicPr>
          <p:nvPr/>
        </p:nvPicPr>
        <p:blipFill>
          <a:blip r:embed="rId22"/>
          <a:srcRect r="6087"/>
          <a:stretch>
            <a:fillRect/>
          </a:stretch>
        </p:blipFill>
        <p:spPr>
          <a:xfrm>
            <a:off x="8431584" y="11685818"/>
            <a:ext cx="3727397" cy="272607"/>
          </a:xfrm>
          <a:prstGeom prst="rect">
            <a:avLst/>
          </a:prstGeom>
        </p:spPr>
      </p:pic>
      <p:pic>
        <p:nvPicPr>
          <p:cNvPr id="222" name="Picture 72"/>
          <p:cNvPicPr>
            <a:picLocks noChangeAspect="1"/>
          </p:cNvPicPr>
          <p:nvPr/>
        </p:nvPicPr>
        <p:blipFill>
          <a:blip r:embed="rId23"/>
          <a:srcRect l="1" r="35566" b="92633"/>
          <a:stretch>
            <a:fillRect/>
          </a:stretch>
        </p:blipFill>
        <p:spPr>
          <a:xfrm>
            <a:off x="12773372" y="10433352"/>
            <a:ext cx="9726628" cy="1009079"/>
          </a:xfrm>
          <a:prstGeom prst="rect">
            <a:avLst/>
          </a:prstGeom>
        </p:spPr>
      </p:pic>
      <p:pic>
        <p:nvPicPr>
          <p:cNvPr id="223" name="Picture 76"/>
          <p:cNvPicPr>
            <a:picLocks noChangeAspect="1"/>
          </p:cNvPicPr>
          <p:nvPr/>
        </p:nvPicPr>
        <p:blipFill>
          <a:blip r:embed="rId23"/>
          <a:srcRect l="1179" t="57707" r="34700" b="9915"/>
          <a:stretch>
            <a:fillRect/>
          </a:stretch>
        </p:blipFill>
        <p:spPr>
          <a:xfrm>
            <a:off x="13237973" y="15733757"/>
            <a:ext cx="5837699" cy="2675119"/>
          </a:xfrm>
          <a:prstGeom prst="rect">
            <a:avLst/>
          </a:prstGeom>
        </p:spPr>
      </p:pic>
      <p:pic>
        <p:nvPicPr>
          <p:cNvPr id="224" name="Picture 80"/>
          <p:cNvPicPr>
            <a:picLocks noChangeAspect="1"/>
          </p:cNvPicPr>
          <p:nvPr/>
        </p:nvPicPr>
        <p:blipFill>
          <a:blip r:embed="rId23"/>
          <a:srcRect l="1110" t="6476" r="35494" b="42182"/>
          <a:stretch>
            <a:fillRect/>
          </a:stretch>
        </p:blipFill>
        <p:spPr>
          <a:xfrm>
            <a:off x="13241287" y="11473013"/>
            <a:ext cx="5830572" cy="4285174"/>
          </a:xfrm>
          <a:prstGeom prst="rect">
            <a:avLst/>
          </a:prstGeom>
        </p:spPr>
      </p:pic>
      <p:pic>
        <p:nvPicPr>
          <p:cNvPr id="225" name="Picture 82"/>
          <p:cNvPicPr>
            <a:picLocks noChangeAspect="1"/>
          </p:cNvPicPr>
          <p:nvPr/>
        </p:nvPicPr>
        <p:blipFill>
          <a:blip r:embed="rId23"/>
          <a:srcRect l="66615" t="12692" r="12700" b="17788"/>
          <a:stretch>
            <a:fillRect/>
          </a:stretch>
        </p:blipFill>
        <p:spPr>
          <a:xfrm>
            <a:off x="19544497" y="11739156"/>
            <a:ext cx="2397891" cy="7555844"/>
          </a:xfrm>
          <a:prstGeom prst="rect">
            <a:avLst/>
          </a:prstGeom>
        </p:spPr>
      </p:pic>
      <p:pic>
        <p:nvPicPr>
          <p:cNvPr id="226" name="Picture 8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224760" y="18386183"/>
            <a:ext cx="5847099" cy="870355"/>
          </a:xfrm>
          <a:prstGeom prst="rect">
            <a:avLst/>
          </a:prstGeom>
        </p:spPr>
      </p:pic>
      <p:pic>
        <p:nvPicPr>
          <p:cNvPr id="227" name="Picture 86"/>
          <p:cNvPicPr>
            <a:picLocks noChangeAspect="1"/>
          </p:cNvPicPr>
          <p:nvPr/>
        </p:nvPicPr>
        <p:blipFill>
          <a:blip r:embed="rId25"/>
          <a:srcRect t="18604"/>
          <a:stretch>
            <a:fillRect/>
          </a:stretch>
        </p:blipFill>
        <p:spPr>
          <a:xfrm>
            <a:off x="13149609" y="11407155"/>
            <a:ext cx="6013927" cy="311873"/>
          </a:xfrm>
          <a:prstGeom prst="rect">
            <a:avLst/>
          </a:prstGeom>
        </p:spPr>
      </p:pic>
      <p:pic>
        <p:nvPicPr>
          <p:cNvPr id="228" name="Picture 88"/>
          <p:cNvPicPr>
            <a:picLocks noChangeAspect="1"/>
          </p:cNvPicPr>
          <p:nvPr/>
        </p:nvPicPr>
        <p:blipFill>
          <a:blip r:embed="rId23"/>
          <a:srcRect l="72691" t="9897" r="7999" b="87404"/>
          <a:stretch>
            <a:fillRect/>
          </a:stretch>
        </p:blipFill>
        <p:spPr>
          <a:xfrm>
            <a:off x="19309057" y="11407155"/>
            <a:ext cx="2618298" cy="332001"/>
          </a:xfrm>
          <a:prstGeom prst="rect">
            <a:avLst/>
          </a:prstGeom>
        </p:spPr>
      </p:pic>
      <p:sp>
        <p:nvSpPr>
          <p:cNvPr id="91" name="Rectangle 90">
            <a:extLst>
              <a:ext uri="{FF2B5EF4-FFF2-40B4-BE49-F238E27FC236}">
                <a16:creationId xmlns:a16="http://schemas.microsoft.com/office/drawing/2014/main" id="{86B388E3-D412-F51C-2D23-39E698206089}"/>
              </a:ext>
            </a:extLst>
          </p:cNvPr>
          <p:cNvSpPr>
            <a:spLocks noGrp="1"/>
          </p:cNvSpPr>
          <p:nvPr/>
        </p:nvSpPr>
        <p:spPr>
          <a:xfrm flipV="1">
            <a:off x="12979420" y="11154884"/>
            <a:ext cx="9520580" cy="45719"/>
          </a:xfrm>
          <a:prstGeom prst="rect">
            <a:avLst/>
          </a:prstGeom>
          <a:solidFill>
            <a:srgbClr val="8EA927"/>
          </a:solidFill>
          <a:ln>
            <a:solidFill>
              <a:srgbClr val="8EA9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30" name="Picture 9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8918797" y="18348079"/>
            <a:ext cx="213378" cy="76207"/>
          </a:xfrm>
          <a:prstGeom prst="rect">
            <a:avLst/>
          </a:prstGeom>
        </p:spPr>
      </p:pic>
      <p:pic>
        <p:nvPicPr>
          <p:cNvPr id="231" name="Picture 94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8888639" y="19156768"/>
            <a:ext cx="213378" cy="76207"/>
          </a:xfrm>
          <a:prstGeom prst="rect">
            <a:avLst/>
          </a:prstGeom>
        </p:spPr>
      </p:pic>
      <p:pic>
        <p:nvPicPr>
          <p:cNvPr id="232" name="Picture 98"/>
          <p:cNvPicPr>
            <a:picLocks noChangeAspect="1"/>
          </p:cNvPicPr>
          <p:nvPr/>
        </p:nvPicPr>
        <p:blipFill>
          <a:blip r:embed="rId27"/>
          <a:srcRect r="35029" b="18147"/>
          <a:stretch>
            <a:fillRect/>
          </a:stretch>
        </p:blipFill>
        <p:spPr>
          <a:xfrm>
            <a:off x="22724526" y="10524846"/>
            <a:ext cx="5691408" cy="8731727"/>
          </a:xfrm>
          <a:prstGeom prst="rect">
            <a:avLst/>
          </a:prstGeom>
        </p:spPr>
      </p:pic>
      <p:pic>
        <p:nvPicPr>
          <p:cNvPr id="233" name="Picture 100"/>
          <p:cNvPicPr>
            <a:picLocks noChangeAspect="1"/>
          </p:cNvPicPr>
          <p:nvPr/>
        </p:nvPicPr>
        <p:blipFill>
          <a:blip r:embed="rId27"/>
          <a:srcRect l="1" t="9597" r="56949" b="81052"/>
          <a:stretch>
            <a:fillRect/>
          </a:stretch>
        </p:blipFill>
        <p:spPr>
          <a:xfrm>
            <a:off x="22736967" y="11621136"/>
            <a:ext cx="3771098" cy="1009080"/>
          </a:xfrm>
          <a:prstGeom prst="rect">
            <a:avLst/>
          </a:prstGeom>
        </p:spPr>
      </p:pic>
      <p:pic>
        <p:nvPicPr>
          <p:cNvPr id="234" name="Picture 10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2870560" y="11390382"/>
            <a:ext cx="5349704" cy="281964"/>
          </a:xfrm>
          <a:prstGeom prst="rect">
            <a:avLst/>
          </a:prstGeom>
        </p:spPr>
      </p:pic>
      <p:pic>
        <p:nvPicPr>
          <p:cNvPr id="235" name="Picture 10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2843594" y="11067049"/>
            <a:ext cx="5572340" cy="318421"/>
          </a:xfrm>
          <a:prstGeom prst="rect">
            <a:avLst/>
          </a:prstGeom>
        </p:spPr>
      </p:pic>
      <p:pic>
        <p:nvPicPr>
          <p:cNvPr id="236" name="Picture 108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2843594" y="10544273"/>
            <a:ext cx="6754660" cy="594223"/>
          </a:xfrm>
          <a:prstGeom prst="rect">
            <a:avLst/>
          </a:prstGeom>
        </p:spPr>
      </p:pic>
      <p:sp>
        <p:nvSpPr>
          <p:cNvPr id="111" name="Rectangle 110">
            <a:extLst>
              <a:ext uri="{FF2B5EF4-FFF2-40B4-BE49-F238E27FC236}">
                <a16:creationId xmlns:a16="http://schemas.microsoft.com/office/drawing/2014/main" id="{49E3227D-CA00-5D31-F2F0-C509B3CB8EAB}"/>
              </a:ext>
            </a:extLst>
          </p:cNvPr>
          <p:cNvSpPr>
            <a:spLocks noGrp="1"/>
          </p:cNvSpPr>
          <p:nvPr/>
        </p:nvSpPr>
        <p:spPr>
          <a:xfrm flipV="1">
            <a:off x="22870560" y="11160920"/>
            <a:ext cx="6948688" cy="45719"/>
          </a:xfrm>
          <a:prstGeom prst="rect">
            <a:avLst/>
          </a:prstGeom>
          <a:solidFill>
            <a:srgbClr val="8EA927"/>
          </a:solidFill>
          <a:ln>
            <a:solidFill>
              <a:srgbClr val="8EA9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38" name="Graphic 1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8619280" y="11740009"/>
            <a:ext cx="1224653" cy="7510125"/>
          </a:xfrm>
          <a:prstGeom prst="rect">
            <a:avLst/>
          </a:prstGeom>
        </p:spPr>
      </p:pic>
      <p:pic>
        <p:nvPicPr>
          <p:cNvPr id="239" name="Picture 3"/>
          <p:cNvPicPr>
            <a:picLocks noChangeAspect="1"/>
          </p:cNvPicPr>
          <p:nvPr/>
        </p:nvPicPr>
        <p:blipFill>
          <a:blip r:embed="rId32"/>
          <a:srcRect b="2479"/>
          <a:stretch>
            <a:fillRect/>
          </a:stretch>
        </p:blipFill>
        <p:spPr>
          <a:xfrm>
            <a:off x="7217429" y="3205188"/>
            <a:ext cx="12729302" cy="7034006"/>
          </a:xfrm>
          <a:prstGeom prst="rect">
            <a:avLst/>
          </a:prstGeom>
        </p:spPr>
      </p:pic>
      <p:pic>
        <p:nvPicPr>
          <p:cNvPr id="240" name="Picture 8"/>
          <p:cNvPicPr>
            <a:picLocks noChangeAspect="1"/>
          </p:cNvPicPr>
          <p:nvPr/>
        </p:nvPicPr>
        <p:blipFill>
          <a:blip r:embed="rId33"/>
          <a:srcRect b="2945"/>
          <a:stretch>
            <a:fillRect/>
          </a:stretch>
        </p:blipFill>
        <p:spPr>
          <a:xfrm>
            <a:off x="19862198" y="3196975"/>
            <a:ext cx="10237319" cy="706567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80B2EE0-07BD-32F3-F138-59D9945BDC59}"/>
              </a:ext>
            </a:extLst>
          </p:cNvPr>
          <p:cNvSpPr>
            <a:spLocks noGrp="1"/>
          </p:cNvSpPr>
          <p:nvPr/>
        </p:nvSpPr>
        <p:spPr>
          <a:xfrm>
            <a:off x="279420" y="3803049"/>
            <a:ext cx="29722116" cy="61031"/>
          </a:xfrm>
          <a:prstGeom prst="rect">
            <a:avLst/>
          </a:prstGeom>
          <a:solidFill>
            <a:srgbClr val="8EA927"/>
          </a:solidFill>
          <a:ln>
            <a:solidFill>
              <a:srgbClr val="8EA9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82339F-5571-D506-AD1C-F5D19A3EC9DE}"/>
              </a:ext>
            </a:extLst>
          </p:cNvPr>
          <p:cNvSpPr>
            <a:spLocks noGrp="1"/>
          </p:cNvSpPr>
          <p:nvPr/>
        </p:nvSpPr>
        <p:spPr>
          <a:xfrm>
            <a:off x="177473" y="10358256"/>
            <a:ext cx="29760894" cy="103356"/>
          </a:xfrm>
          <a:prstGeom prst="rect">
            <a:avLst/>
          </a:prstGeom>
          <a:solidFill>
            <a:srgbClr val="8EA927"/>
          </a:solidFill>
          <a:ln>
            <a:solidFill>
              <a:srgbClr val="8EA9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2" name="Approved lower-half replacement background">
            <a:extLst>
              <a:ext uri="{FF2B5EF4-FFF2-40B4-BE49-F238E27FC236}">
                <a16:creationId xmlns:a16="http://schemas.microsoft.com/office/drawing/2014/main" id="{0B89A322-2021-472F-9E6B-8C0857CC7CD0}"/>
              </a:ext>
            </a:extLst>
          </p:cNvPr>
          <p:cNvSpPr>
            <a:spLocks noGrp="1"/>
          </p:cNvSpPr>
          <p:nvPr/>
        </p:nvSpPr>
        <p:spPr>
          <a:xfrm>
            <a:off x="177473" y="10485531"/>
            <a:ext cx="29794200" cy="9096375"/>
          </a:xfrm>
          <a:prstGeom prst="rect">
            <a:avLst/>
          </a:prstGeom>
          <a:solidFill>
            <a:srgbClr val="283D53"/>
          </a:solidFill>
          <a:ln w="0">
            <a:noFill/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53" name="Section divider 42">
            <a:extLst>
              <a:ext uri="{FF2B5EF4-FFF2-40B4-BE49-F238E27FC236}">
                <a16:creationId xmlns:a16="http://schemas.microsoft.com/office/drawing/2014/main" id="{0460831B-1368-4DB3-81A0-D38C748D5903}"/>
              </a:ext>
            </a:extLst>
          </p:cNvPr>
          <p:cNvSpPr>
            <a:spLocks noGrp="1"/>
          </p:cNvSpPr>
          <p:nvPr/>
        </p:nvSpPr>
        <p:spPr>
          <a:xfrm>
            <a:off x="400050" y="11144250"/>
            <a:ext cx="12096750" cy="47625"/>
          </a:xfrm>
          <a:prstGeom prst="rect">
            <a:avLst/>
          </a:prstGeom>
          <a:solidFill>
            <a:srgbClr val="9FE87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4" name="Section divider 1350">
            <a:extLst>
              <a:ext uri="{FF2B5EF4-FFF2-40B4-BE49-F238E27FC236}">
                <a16:creationId xmlns:a16="http://schemas.microsoft.com/office/drawing/2014/main" id="{FB61DB4C-D680-43B3-ACB6-630B3B77E153}"/>
              </a:ext>
            </a:extLst>
          </p:cNvPr>
          <p:cNvSpPr>
            <a:spLocks noGrp="1"/>
          </p:cNvSpPr>
          <p:nvPr/>
        </p:nvSpPr>
        <p:spPr>
          <a:xfrm>
            <a:off x="12858750" y="11144250"/>
            <a:ext cx="9572625" cy="47625"/>
          </a:xfrm>
          <a:prstGeom prst="rect">
            <a:avLst/>
          </a:prstGeom>
          <a:solidFill>
            <a:srgbClr val="9FE87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5" name="Section divider 2395">
            <a:extLst>
              <a:ext uri="{FF2B5EF4-FFF2-40B4-BE49-F238E27FC236}">
                <a16:creationId xmlns:a16="http://schemas.microsoft.com/office/drawing/2014/main" id="{23A1CF9A-5571-45E8-932D-6EF7B95F04C6}"/>
              </a:ext>
            </a:extLst>
          </p:cNvPr>
          <p:cNvSpPr>
            <a:spLocks noGrp="1"/>
          </p:cNvSpPr>
          <p:nvPr/>
        </p:nvSpPr>
        <p:spPr>
          <a:xfrm>
            <a:off x="22812375" y="11144250"/>
            <a:ext cx="6953250" cy="47625"/>
          </a:xfrm>
          <a:prstGeom prst="rect">
            <a:avLst/>
          </a:prstGeom>
          <a:solidFill>
            <a:srgbClr val="9FE87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6" name="Section 4 title">
            <a:extLst>
              <a:ext uri="{FF2B5EF4-FFF2-40B4-BE49-F238E27FC236}">
                <a16:creationId xmlns:a16="http://schemas.microsoft.com/office/drawing/2014/main" id="{20099684-32EE-4CA9-B158-848A2D795C1A}"/>
              </a:ext>
            </a:extLst>
          </p:cNvPr>
          <p:cNvSpPr>
            <a:spLocks noGrp="1"/>
          </p:cNvSpPr>
          <p:nvPr/>
        </p:nvSpPr>
        <p:spPr>
          <a:xfrm>
            <a:off x="461491" y="10524487"/>
            <a:ext cx="12096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450" b="1">
                <a:solidFill>
                  <a:srgbClr val="FFFFFF"/>
                </a:solidFill>
              </a:defRPr>
            </a:pPr>
            <a:r>
              <a:rPr sz="3450" b="1" dirty="0">
                <a:solidFill>
                  <a:srgbClr val="FFFFFF"/>
                </a:solidFill>
              </a:rPr>
              <a:t>4. WHICH METHODS PERFORMED BEST?</a:t>
            </a:r>
          </a:p>
        </p:txBody>
      </p:sp>
      <p:sp>
        <p:nvSpPr>
          <p:cNvPr id="158" name="Section 6 title">
            <a:extLst>
              <a:ext uri="{FF2B5EF4-FFF2-40B4-BE49-F238E27FC236}">
                <a16:creationId xmlns:a16="http://schemas.microsoft.com/office/drawing/2014/main" id="{946268AC-F9AC-48D4-96B1-46FF3D195DB1}"/>
              </a:ext>
            </a:extLst>
          </p:cNvPr>
          <p:cNvSpPr>
            <a:spLocks noGrp="1"/>
          </p:cNvSpPr>
          <p:nvPr/>
        </p:nvSpPr>
        <p:spPr>
          <a:xfrm>
            <a:off x="21317652" y="10531848"/>
            <a:ext cx="9013361" cy="4659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925" b="1">
                <a:solidFill>
                  <a:srgbClr val="FFFFFF"/>
                </a:solidFill>
              </a:defRPr>
            </a:pPr>
            <a:r>
              <a:rPr sz="3450" b="1" dirty="0">
                <a:solidFill>
                  <a:srgbClr val="FFFFFF"/>
                </a:solidFill>
              </a:rPr>
              <a:t>6. WHAT IMAGE-LEVEL ANALYSIS REVEAL</a:t>
            </a:r>
            <a:r>
              <a:rPr lang="en-GB" sz="3450" b="1" dirty="0">
                <a:solidFill>
                  <a:srgbClr val="FFFFFF"/>
                </a:solidFill>
              </a:rPr>
              <a:t>S</a:t>
            </a:r>
            <a:r>
              <a:rPr sz="3450" b="1" dirty="0">
                <a:solidFill>
                  <a:srgbClr val="FFFFFF"/>
                </a:solidFill>
              </a:rPr>
              <a:t>?</a:t>
            </a:r>
          </a:p>
        </p:txBody>
      </p:sp>
      <p:sp>
        <p:nvSpPr>
          <p:cNvPr id="160" name="Section 4 winner heading">
            <a:extLst>
              <a:ext uri="{FF2B5EF4-FFF2-40B4-BE49-F238E27FC236}">
                <a16:creationId xmlns:a16="http://schemas.microsoft.com/office/drawing/2014/main" id="{483E99BE-1A25-45EC-BCFB-B26590C75477}"/>
              </a:ext>
            </a:extLst>
          </p:cNvPr>
          <p:cNvSpPr>
            <a:spLocks noGrp="1"/>
          </p:cNvSpPr>
          <p:nvPr/>
        </p:nvSpPr>
        <p:spPr>
          <a:xfrm>
            <a:off x="7050440" y="11526392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9FE870"/>
                </a:solidFill>
              </a:defRPr>
            </a:pPr>
            <a:r>
              <a:rPr sz="1875" b="1" dirty="0">
                <a:solidFill>
                  <a:srgbClr val="9FE870"/>
                </a:solidFill>
              </a:rPr>
              <a:t>NUMERICAL WINNERS</a:t>
            </a:r>
          </a:p>
        </p:txBody>
      </p:sp>
      <p:sp>
        <p:nvSpPr>
          <p:cNvPr id="161" name="Section 4 winners">
            <a:extLst>
              <a:ext uri="{FF2B5EF4-FFF2-40B4-BE49-F238E27FC236}">
                <a16:creationId xmlns:a16="http://schemas.microsoft.com/office/drawing/2014/main" id="{7EE9CAB5-7B4D-4860-BE8A-C77946CCD580}"/>
              </a:ext>
            </a:extLst>
          </p:cNvPr>
          <p:cNvSpPr>
            <a:spLocks noGrp="1"/>
          </p:cNvSpPr>
          <p:nvPr/>
        </p:nvSpPr>
        <p:spPr>
          <a:xfrm>
            <a:off x="7086523" y="12050995"/>
            <a:ext cx="3376414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0">
                <a:solidFill>
                  <a:srgbClr val="FFFFFF"/>
                </a:solidFill>
              </a:defRPr>
            </a:pPr>
            <a:r>
              <a:rPr sz="1950" b="0" dirty="0">
                <a:solidFill>
                  <a:srgbClr val="FFFFFF"/>
                </a:solidFill>
              </a:rPr>
              <a:t>FEI  GP Original  0.993</a:t>
            </a:r>
            <a:r>
              <a:rPr lang="en-GB" sz="1950" b="0" dirty="0">
                <a:solidFill>
                  <a:srgbClr val="FFFFFF"/>
                </a:solidFill>
              </a:rPr>
              <a:t> </a:t>
            </a:r>
            <a:endParaRPr sz="1950" b="0" dirty="0">
              <a:solidFill>
                <a:srgbClr val="FFFFFF"/>
              </a:solidFill>
            </a:endParaRPr>
          </a:p>
          <a:p>
            <a:pPr algn="l">
              <a:defRPr sz="1950" b="0">
                <a:solidFill>
                  <a:srgbClr val="FFFFFF"/>
                </a:solidFill>
              </a:defRPr>
            </a:pPr>
            <a:r>
              <a:rPr sz="1950" b="0" dirty="0">
                <a:solidFill>
                  <a:srgbClr val="FFFFFF"/>
                </a:solidFill>
              </a:rPr>
              <a:t>KSDD2  CNN  0.845</a:t>
            </a:r>
          </a:p>
          <a:p>
            <a:pPr algn="l">
              <a:defRPr sz="1950" b="0">
                <a:solidFill>
                  <a:srgbClr val="FFFFFF"/>
                </a:solidFill>
              </a:defRPr>
            </a:pPr>
            <a:r>
              <a:rPr sz="1950" b="0" dirty="0" err="1">
                <a:solidFill>
                  <a:srgbClr val="FFFFFF"/>
                </a:solidFill>
              </a:rPr>
              <a:t>MVTec</a:t>
            </a:r>
            <a:r>
              <a:rPr sz="1950" b="0" dirty="0">
                <a:solidFill>
                  <a:srgbClr val="FFFFFF"/>
                </a:solidFill>
              </a:rPr>
              <a:t> AD  GP Modified  0.666</a:t>
            </a:r>
          </a:p>
          <a:p>
            <a:pPr algn="l">
              <a:defRPr sz="1950" b="0">
                <a:solidFill>
                  <a:srgbClr val="FFFFFF"/>
                </a:solidFill>
              </a:defRPr>
            </a:pPr>
            <a:r>
              <a:rPr sz="1950" b="0" dirty="0">
                <a:solidFill>
                  <a:srgbClr val="FFFFFF"/>
                </a:solidFill>
              </a:rPr>
              <a:t>STL-10  CNN  0.635</a:t>
            </a:r>
          </a:p>
        </p:txBody>
      </p:sp>
      <p:sp>
        <p:nvSpPr>
          <p:cNvPr id="162" name="Section 4 interpretation">
            <a:extLst>
              <a:ext uri="{FF2B5EF4-FFF2-40B4-BE49-F238E27FC236}">
                <a16:creationId xmlns:a16="http://schemas.microsoft.com/office/drawing/2014/main" id="{ED77AA0C-5413-40DA-A7AF-A3AC87051221}"/>
              </a:ext>
            </a:extLst>
          </p:cNvPr>
          <p:cNvSpPr>
            <a:spLocks noGrp="1"/>
          </p:cNvSpPr>
          <p:nvPr/>
        </p:nvSpPr>
        <p:spPr>
          <a:xfrm>
            <a:off x="7157257" y="13885306"/>
            <a:ext cx="3292511" cy="1762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D7E0E8"/>
                </a:solidFill>
              </a:defRPr>
            </a:pPr>
            <a:r>
              <a:rPr sz="1875" b="0" dirty="0">
                <a:solidFill>
                  <a:srgbClr val="D7E0E8"/>
                </a:solidFill>
              </a:rPr>
              <a:t>No method dominated every dataset. After Holm correction, FEI contained no significant pairwise differences. The clearest separation occurred on KSDD2 and STL-10.</a:t>
            </a:r>
          </a:p>
        </p:txBody>
      </p:sp>
      <p:sp>
        <p:nvSpPr>
          <p:cNvPr id="163" name="KSDD2 warning">
            <a:extLst>
              <a:ext uri="{FF2B5EF4-FFF2-40B4-BE49-F238E27FC236}">
                <a16:creationId xmlns:a16="http://schemas.microsoft.com/office/drawing/2014/main" id="{DC48F77F-D0D5-4D5F-8FB9-5D3B7C16B10C}"/>
              </a:ext>
            </a:extLst>
          </p:cNvPr>
          <p:cNvSpPr>
            <a:spLocks noGrp="1"/>
          </p:cNvSpPr>
          <p:nvPr/>
        </p:nvSpPr>
        <p:spPr>
          <a:xfrm>
            <a:off x="638177" y="16287750"/>
            <a:ext cx="9811592" cy="1381125"/>
          </a:xfrm>
          <a:prstGeom prst="roundRect">
            <a:avLst>
              <a:gd name="adj" fmla="val 5517"/>
            </a:avLst>
          </a:prstGeom>
          <a:solidFill>
            <a:srgbClr val="173B5D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4" name="KSDD2 warning text">
            <a:extLst>
              <a:ext uri="{FF2B5EF4-FFF2-40B4-BE49-F238E27FC236}">
                <a16:creationId xmlns:a16="http://schemas.microsoft.com/office/drawing/2014/main" id="{02CABAE1-2D20-41EC-B8FF-DD40E2EBD2AC}"/>
              </a:ext>
            </a:extLst>
          </p:cNvPr>
          <p:cNvSpPr>
            <a:spLocks noGrp="1"/>
          </p:cNvSpPr>
          <p:nvPr/>
        </p:nvSpPr>
        <p:spPr>
          <a:xfrm>
            <a:off x="923925" y="16478250"/>
            <a:ext cx="8722933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 dirty="0">
                <a:solidFill>
                  <a:srgbClr val="FFFFFF"/>
                </a:solidFill>
              </a:rPr>
              <a:t>KSDD2 ACCURACY WARNING</a:t>
            </a:r>
          </a:p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 dirty="0">
                <a:solidFill>
                  <a:srgbClr val="FFFFFF"/>
                </a:solidFill>
              </a:rPr>
              <a:t>MLP: accuracy 0.893  |  balanced accuracy 0.501  |  macro F1 0.473</a:t>
            </a:r>
          </a:p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 dirty="0">
                <a:solidFill>
                  <a:srgbClr val="FFFFFF"/>
                </a:solidFill>
              </a:rPr>
              <a:t>High accuracy concealed near-majority-class </a:t>
            </a:r>
            <a:r>
              <a:rPr sz="2025" b="1" dirty="0" err="1">
                <a:solidFill>
                  <a:srgbClr val="FFFFFF"/>
                </a:solidFill>
              </a:rPr>
              <a:t>behaviour</a:t>
            </a:r>
            <a:r>
              <a:rPr sz="2025" b="1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65" name="Section 4 stats note">
            <a:extLst>
              <a:ext uri="{FF2B5EF4-FFF2-40B4-BE49-F238E27FC236}">
                <a16:creationId xmlns:a16="http://schemas.microsoft.com/office/drawing/2014/main" id="{0009D059-CF5D-40EC-A840-F97F83AD7B47}"/>
              </a:ext>
            </a:extLst>
          </p:cNvPr>
          <p:cNvSpPr>
            <a:spLocks noGrp="1"/>
          </p:cNvSpPr>
          <p:nvPr/>
        </p:nvSpPr>
        <p:spPr>
          <a:xfrm>
            <a:off x="638176" y="17907000"/>
            <a:ext cx="9520349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D7E0E8"/>
                </a:solidFill>
              </a:defRPr>
            </a:pPr>
            <a:r>
              <a:rPr sz="1725" b="0" dirty="0">
                <a:solidFill>
                  <a:srgbClr val="D7E0E8"/>
                </a:solidFill>
              </a:rPr>
              <a:t>Primary metric: validation macro F1 across 10 matched folds (5 folds × 2 seeds). Corrected repeated-CV paired t-tests; Holm adjustment within each dataset.</a:t>
            </a:r>
          </a:p>
        </p:txBody>
      </p:sp>
      <p:sp>
        <p:nvSpPr>
          <p:cNvPr id="166" name="Case selection">
            <a:extLst>
              <a:ext uri="{FF2B5EF4-FFF2-40B4-BE49-F238E27FC236}">
                <a16:creationId xmlns:a16="http://schemas.microsoft.com/office/drawing/2014/main" id="{95127B45-E190-4F81-ADC7-1B9D2F01A813}"/>
              </a:ext>
            </a:extLst>
          </p:cNvPr>
          <p:cNvSpPr>
            <a:spLocks noGrp="1"/>
          </p:cNvSpPr>
          <p:nvPr/>
        </p:nvSpPr>
        <p:spPr>
          <a:xfrm>
            <a:off x="11354189" y="11381545"/>
            <a:ext cx="938212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0">
                <a:solidFill>
                  <a:srgbClr val="D7E0E8"/>
                </a:solidFill>
              </a:defRPr>
            </a:pPr>
            <a:r>
              <a:rPr sz="1875" b="0" dirty="0">
                <a:solidFill>
                  <a:srgbClr val="D7E0E8"/>
                </a:solidFill>
              </a:rPr>
              <a:t>Objectively selected from 69 eligible validation images: GP Modified was correct and EOH failed in both seeds.</a:t>
            </a:r>
          </a:p>
        </p:txBody>
      </p:sp>
      <p:pic>
        <p:nvPicPr>
          <p:cNvPr id="258" name="Picture 257"/>
          <p:cNvPicPr>
            <a:picLocks noChangeAspect="1"/>
          </p:cNvPicPr>
          <p:nvPr/>
        </p:nvPicPr>
        <p:blipFill>
          <a:blip r:embed="rId34"/>
          <a:srcRect/>
          <a:stretch>
            <a:fillRect/>
          </a:stretch>
        </p:blipFill>
        <p:spPr>
          <a:xfrm>
            <a:off x="10918593" y="12268221"/>
            <a:ext cx="2641150" cy="2641150"/>
          </a:xfrm>
          <a:prstGeom prst="rect">
            <a:avLst/>
          </a:prstGeom>
        </p:spPr>
      </p:pic>
      <p:sp>
        <p:nvSpPr>
          <p:cNvPr id="168" name="Case identity">
            <a:extLst>
              <a:ext uri="{FF2B5EF4-FFF2-40B4-BE49-F238E27FC236}">
                <a16:creationId xmlns:a16="http://schemas.microsoft.com/office/drawing/2014/main" id="{8208FD6C-758C-4515-B70C-DC076AD43DC8}"/>
              </a:ext>
            </a:extLst>
          </p:cNvPr>
          <p:cNvSpPr>
            <a:spLocks noGrp="1"/>
          </p:cNvSpPr>
          <p:nvPr/>
        </p:nvSpPr>
        <p:spPr>
          <a:xfrm>
            <a:off x="13610119" y="12209706"/>
            <a:ext cx="2129929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325" b="1">
                <a:solidFill>
                  <a:srgbClr val="9FE870"/>
                </a:solidFill>
              </a:defRPr>
            </a:pPr>
            <a:r>
              <a:rPr sz="2325" b="1" dirty="0">
                <a:solidFill>
                  <a:srgbClr val="9FE870"/>
                </a:solidFill>
              </a:rPr>
              <a:t>TRUE CLASS</a:t>
            </a:r>
          </a:p>
          <a:p>
            <a:pPr algn="l">
              <a:defRPr sz="2325" b="1">
                <a:solidFill>
                  <a:srgbClr val="9FE870"/>
                </a:solidFill>
              </a:defRPr>
            </a:pPr>
            <a:r>
              <a:rPr sz="2325" b="1" dirty="0">
                <a:solidFill>
                  <a:srgbClr val="9FE870"/>
                </a:solidFill>
              </a:rPr>
              <a:t>CAT</a:t>
            </a:r>
          </a:p>
        </p:txBody>
      </p:sp>
      <p:sp>
        <p:nvSpPr>
          <p:cNvPr id="169" name="Case predictions">
            <a:extLst>
              <a:ext uri="{FF2B5EF4-FFF2-40B4-BE49-F238E27FC236}">
                <a16:creationId xmlns:a16="http://schemas.microsoft.com/office/drawing/2014/main" id="{ACBAD719-AD55-4E73-8746-4C39E9B33561}"/>
              </a:ext>
            </a:extLst>
          </p:cNvPr>
          <p:cNvSpPr>
            <a:spLocks noGrp="1"/>
          </p:cNvSpPr>
          <p:nvPr/>
        </p:nvSpPr>
        <p:spPr>
          <a:xfrm>
            <a:off x="13691203" y="13096628"/>
            <a:ext cx="24765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 dirty="0">
                <a:solidFill>
                  <a:srgbClr val="FFFFFF"/>
                </a:solidFill>
              </a:rPr>
              <a:t>GP Modified: CAT ✓</a:t>
            </a:r>
          </a:p>
          <a:p>
            <a:pPr algn="l">
              <a:defRPr sz="2025" b="1">
                <a:solidFill>
                  <a:srgbClr val="FFFFFF"/>
                </a:solidFill>
              </a:defRPr>
            </a:pPr>
            <a:r>
              <a:rPr sz="2025" b="1" dirty="0">
                <a:solidFill>
                  <a:srgbClr val="FFFFFF"/>
                </a:solidFill>
              </a:rPr>
              <a:t>EOH: DEER ✕</a:t>
            </a:r>
          </a:p>
        </p:txBody>
      </p:sp>
      <p:sp>
        <p:nvSpPr>
          <p:cNvPr id="170" name="GP heading">
            <a:extLst>
              <a:ext uri="{FF2B5EF4-FFF2-40B4-BE49-F238E27FC236}">
                <a16:creationId xmlns:a16="http://schemas.microsoft.com/office/drawing/2014/main" id="{DE065AD9-CF18-4CF8-80DD-842132B6013E}"/>
              </a:ext>
            </a:extLst>
          </p:cNvPr>
          <p:cNvSpPr>
            <a:spLocks noGrp="1"/>
          </p:cNvSpPr>
          <p:nvPr/>
        </p:nvSpPr>
        <p:spPr>
          <a:xfrm>
            <a:off x="16700844" y="12203121"/>
            <a:ext cx="4095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B58CFF"/>
                </a:solidFill>
              </a:defRPr>
            </a:pPr>
            <a:r>
              <a:rPr sz="1950" b="1" dirty="0">
                <a:solidFill>
                  <a:srgbClr val="B58CFF"/>
                </a:solidFill>
              </a:rPr>
              <a:t>GP MODIFIED — 783 FEATURES</a:t>
            </a:r>
          </a:p>
        </p:txBody>
      </p:sp>
      <p:pic>
        <p:nvPicPr>
          <p:cNvPr id="262" name="Picture 261"/>
          <p:cNvPicPr>
            <a:picLocks noChangeAspect="1"/>
          </p:cNvPicPr>
          <p:nvPr/>
        </p:nvPicPr>
        <p:blipFill>
          <a:blip r:embed="rId35"/>
          <a:stretch/>
        </p:blipFill>
        <p:spPr>
          <a:xfrm>
            <a:off x="15467612" y="12526447"/>
            <a:ext cx="5109186" cy="1999010"/>
          </a:xfrm>
          <a:prstGeom prst="rect">
            <a:avLst/>
          </a:prstGeom>
        </p:spPr>
      </p:pic>
      <p:sp>
        <p:nvSpPr>
          <p:cNvPr id="172" name="GP constants">
            <a:extLst>
              <a:ext uri="{FF2B5EF4-FFF2-40B4-BE49-F238E27FC236}">
                <a16:creationId xmlns:a16="http://schemas.microsoft.com/office/drawing/2014/main" id="{1166463D-2C63-40CE-B8AB-2720A84A040C}"/>
              </a:ext>
            </a:extLst>
          </p:cNvPr>
          <p:cNvSpPr>
            <a:spLocks noGrp="1"/>
          </p:cNvSpPr>
          <p:nvPr/>
        </p:nvSpPr>
        <p:spPr>
          <a:xfrm>
            <a:off x="16575443" y="14460329"/>
            <a:ext cx="4095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>
                <a:solidFill>
                  <a:srgbClr val="D7E0E8"/>
                </a:solidFill>
              </a:defRPr>
            </a:pPr>
            <a:r>
              <a:rPr sz="1500" b="0" dirty="0">
                <a:solidFill>
                  <a:srgbClr val="D7E0E8"/>
                </a:solidFill>
              </a:rPr>
              <a:t>10,10 = crop origin</a:t>
            </a:r>
          </a:p>
          <a:p>
            <a:pPr algn="l">
              <a:defRPr sz="1500" b="0">
                <a:solidFill>
                  <a:srgbClr val="D7E0E8"/>
                </a:solidFill>
              </a:defRPr>
            </a:pPr>
            <a:r>
              <a:rPr sz="1500" b="0" dirty="0">
                <a:solidFill>
                  <a:srgbClr val="D7E0E8"/>
                </a:solidFill>
              </a:rPr>
              <a:t>51,3 = crop width × height  •  1 = Gaussian σ</a:t>
            </a:r>
          </a:p>
        </p:txBody>
      </p:sp>
      <p:sp>
        <p:nvSpPr>
          <p:cNvPr id="173" name="EOH heading">
            <a:extLst>
              <a:ext uri="{FF2B5EF4-FFF2-40B4-BE49-F238E27FC236}">
                <a16:creationId xmlns:a16="http://schemas.microsoft.com/office/drawing/2014/main" id="{227F4E05-CEA7-44CE-9819-9B4A5F148A61}"/>
              </a:ext>
            </a:extLst>
          </p:cNvPr>
          <p:cNvSpPr>
            <a:spLocks noGrp="1"/>
          </p:cNvSpPr>
          <p:nvPr/>
        </p:nvSpPr>
        <p:spPr>
          <a:xfrm>
            <a:off x="10826240" y="15245284"/>
            <a:ext cx="4124348" cy="3672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>
                <a:solidFill>
                  <a:srgbClr val="F7B267"/>
                </a:solidFill>
              </a:defRPr>
            </a:pPr>
            <a:r>
              <a:rPr sz="1725" b="1" dirty="0">
                <a:solidFill>
                  <a:srgbClr val="F7B267"/>
                </a:solidFill>
              </a:rPr>
              <a:t>EOH - 8 HUMAN-READABLE FEATURES</a:t>
            </a:r>
          </a:p>
        </p:txBody>
      </p:sp>
      <p:sp>
        <p:nvSpPr>
          <p:cNvPr id="174" name="EOH feature list">
            <a:extLst>
              <a:ext uri="{FF2B5EF4-FFF2-40B4-BE49-F238E27FC236}">
                <a16:creationId xmlns:a16="http://schemas.microsoft.com/office/drawing/2014/main" id="{13CF2D05-22E2-4A9D-B091-B0B56F332171}"/>
              </a:ext>
            </a:extLst>
          </p:cNvPr>
          <p:cNvSpPr>
            <a:spLocks noGrp="1"/>
          </p:cNvSpPr>
          <p:nvPr/>
        </p:nvSpPr>
        <p:spPr>
          <a:xfrm>
            <a:off x="10833815" y="15594149"/>
            <a:ext cx="3401156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D7E0E8"/>
                </a:solidFill>
              </a:defRPr>
            </a:pPr>
            <a:r>
              <a:rPr sz="1725" b="0" dirty="0">
                <a:solidFill>
                  <a:srgbClr val="D7E0E8"/>
                </a:solidFill>
              </a:rPr>
              <a:t>Mean red, green and blue</a:t>
            </a:r>
          </a:p>
          <a:p>
            <a:pPr algn="l">
              <a:defRPr sz="1725" b="0">
                <a:solidFill>
                  <a:srgbClr val="D7E0E8"/>
                </a:solidFill>
              </a:defRPr>
            </a:pPr>
            <a:r>
              <a:rPr sz="1725" b="0" dirty="0">
                <a:solidFill>
                  <a:srgbClr val="D7E0E8"/>
                </a:solidFill>
              </a:rPr>
              <a:t>Intensity contrast</a:t>
            </a:r>
          </a:p>
          <a:p>
            <a:pPr algn="l">
              <a:defRPr sz="1725" b="0">
                <a:solidFill>
                  <a:srgbClr val="D7E0E8"/>
                </a:solidFill>
              </a:defRPr>
            </a:pPr>
            <a:r>
              <a:rPr sz="1725" b="0" dirty="0">
                <a:solidFill>
                  <a:srgbClr val="D7E0E8"/>
                </a:solidFill>
              </a:rPr>
              <a:t>Central-global intensity</a:t>
            </a:r>
          </a:p>
          <a:p>
            <a:pPr algn="l">
              <a:defRPr sz="1725" b="0">
                <a:solidFill>
                  <a:srgbClr val="D7E0E8"/>
                </a:solidFill>
              </a:defRPr>
            </a:pPr>
            <a:r>
              <a:rPr sz="1725" b="0" dirty="0">
                <a:solidFill>
                  <a:srgbClr val="D7E0E8"/>
                </a:solidFill>
              </a:rPr>
              <a:t>Horizontal/vertical variation</a:t>
            </a:r>
          </a:p>
          <a:p>
            <a:pPr algn="l">
              <a:defRPr sz="1725" b="0">
                <a:solidFill>
                  <a:srgbClr val="D7E0E8"/>
                </a:solidFill>
              </a:defRPr>
            </a:pPr>
            <a:r>
              <a:rPr sz="1725" b="0" dirty="0">
                <a:solidFill>
                  <a:srgbClr val="D7E0E8"/>
                </a:solidFill>
              </a:rPr>
              <a:t>Mean RGB </a:t>
            </a:r>
            <a:r>
              <a:rPr sz="1725" b="0" dirty="0" err="1">
                <a:solidFill>
                  <a:srgbClr val="D7E0E8"/>
                </a:solidFill>
              </a:rPr>
              <a:t>colour</a:t>
            </a:r>
            <a:r>
              <a:rPr sz="1725" b="0" dirty="0">
                <a:solidFill>
                  <a:srgbClr val="D7E0E8"/>
                </a:solidFill>
              </a:rPr>
              <a:t> range</a:t>
            </a:r>
          </a:p>
        </p:txBody>
      </p:sp>
      <p:pic>
        <p:nvPicPr>
          <p:cNvPr id="266" name="Graphic 26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/>
        </p:blipFill>
        <p:spPr>
          <a:xfrm>
            <a:off x="14636473" y="15275460"/>
            <a:ext cx="6286500" cy="3190875"/>
          </a:xfrm>
          <a:prstGeom prst="rect">
            <a:avLst/>
          </a:prstGeom>
        </p:spPr>
      </p:pic>
      <p:sp>
        <p:nvSpPr>
          <p:cNvPr id="176" name="Contribution caveat">
            <a:extLst>
              <a:ext uri="{FF2B5EF4-FFF2-40B4-BE49-F238E27FC236}">
                <a16:creationId xmlns:a16="http://schemas.microsoft.com/office/drawing/2014/main" id="{884E2D2C-7208-4BD7-AE6E-8916AB9AB8FA}"/>
              </a:ext>
            </a:extLst>
          </p:cNvPr>
          <p:cNvSpPr>
            <a:spLocks noGrp="1"/>
          </p:cNvSpPr>
          <p:nvPr/>
        </p:nvSpPr>
        <p:spPr>
          <a:xfrm>
            <a:off x="10826239" y="17142005"/>
            <a:ext cx="4124348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D7E0E8"/>
                </a:solidFill>
              </a:defRPr>
            </a:pPr>
            <a:r>
              <a:rPr sz="1730" b="0" dirty="0">
                <a:solidFill>
                  <a:srgbClr val="D7E0E8"/>
                </a:solidFill>
              </a:rPr>
              <a:t>Exact </a:t>
            </a:r>
            <a:r>
              <a:rPr sz="1730" b="0" dirty="0" err="1">
                <a:solidFill>
                  <a:srgbClr val="D7E0E8"/>
                </a:solidFill>
              </a:rPr>
              <a:t>standardised</a:t>
            </a:r>
            <a:r>
              <a:rPr sz="1730" b="0" dirty="0">
                <a:solidFill>
                  <a:srgbClr val="D7E0E8"/>
                </a:solidFill>
              </a:rPr>
              <a:t>-feature × linear-SVM-weight contributions. They describe the fitted model, not causal importance.</a:t>
            </a:r>
          </a:p>
        </p:txBody>
      </p:sp>
      <p:sp>
        <p:nvSpPr>
          <p:cNvPr id="177" name="Section 5 takeaway">
            <a:extLst>
              <a:ext uri="{FF2B5EF4-FFF2-40B4-BE49-F238E27FC236}">
                <a16:creationId xmlns:a16="http://schemas.microsoft.com/office/drawing/2014/main" id="{6CE7B857-CB75-4161-B6A2-237C4E9047DF}"/>
              </a:ext>
            </a:extLst>
          </p:cNvPr>
          <p:cNvSpPr>
            <a:spLocks noGrp="1"/>
          </p:cNvSpPr>
          <p:nvPr/>
        </p:nvSpPr>
        <p:spPr>
          <a:xfrm>
            <a:off x="11393023" y="18509722"/>
            <a:ext cx="9239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FFFFF"/>
                </a:solidFill>
              </a:defRPr>
            </a:pPr>
            <a:r>
              <a:rPr sz="1875" b="1" dirty="0">
                <a:solidFill>
                  <a:srgbClr val="FFFFFF"/>
                </a:solidFill>
              </a:rPr>
              <a:t>Same image, different representations: GP combined regional </a:t>
            </a:r>
            <a:r>
              <a:rPr sz="1875" b="1" dirty="0" err="1">
                <a:solidFill>
                  <a:srgbClr val="FFFFFF"/>
                </a:solidFill>
              </a:rPr>
              <a:t>colour</a:t>
            </a:r>
            <a:r>
              <a:rPr sz="1875" b="1" dirty="0">
                <a:solidFill>
                  <a:srgbClr val="FFFFFF"/>
                </a:solidFill>
              </a:rPr>
              <a:t>, texture and SIFT descriptors; EOH remained compact but supported the wrong class.</a:t>
            </a:r>
          </a:p>
        </p:txBody>
      </p:sp>
      <p:sp>
        <p:nvSpPr>
          <p:cNvPr id="178" name="Alignment headline">
            <a:extLst>
              <a:ext uri="{FF2B5EF4-FFF2-40B4-BE49-F238E27FC236}">
                <a16:creationId xmlns:a16="http://schemas.microsoft.com/office/drawing/2014/main" id="{602205CA-B43F-436F-B1F2-115C6488B98F}"/>
              </a:ext>
            </a:extLst>
          </p:cNvPr>
          <p:cNvSpPr>
            <a:spLocks noGrp="1"/>
          </p:cNvSpPr>
          <p:nvPr/>
        </p:nvSpPr>
        <p:spPr>
          <a:xfrm>
            <a:off x="23346008" y="11554637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750" b="1">
                <a:solidFill>
                  <a:srgbClr val="9FE870"/>
                </a:solidFill>
              </a:defRPr>
            </a:pPr>
            <a:r>
              <a:rPr sz="3750" b="1" dirty="0">
                <a:solidFill>
                  <a:srgbClr val="9FE870"/>
                </a:solidFill>
              </a:rPr>
              <a:t>36,404</a:t>
            </a:r>
          </a:p>
        </p:txBody>
      </p:sp>
      <p:sp>
        <p:nvSpPr>
          <p:cNvPr id="179" name="Alignment label">
            <a:extLst>
              <a:ext uri="{FF2B5EF4-FFF2-40B4-BE49-F238E27FC236}">
                <a16:creationId xmlns:a16="http://schemas.microsoft.com/office/drawing/2014/main" id="{B8C24680-5B43-4D3B-BB0C-D16FFD8ACEC5}"/>
              </a:ext>
            </a:extLst>
          </p:cNvPr>
          <p:cNvSpPr>
            <a:spLocks noGrp="1"/>
          </p:cNvSpPr>
          <p:nvPr/>
        </p:nvSpPr>
        <p:spPr>
          <a:xfrm>
            <a:off x="25135856" y="11553846"/>
            <a:ext cx="40957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 dirty="0">
                <a:solidFill>
                  <a:srgbClr val="FFFFFF"/>
                </a:solidFill>
              </a:rPr>
              <a:t>seed-level observations</a:t>
            </a:r>
          </a:p>
          <a:p>
            <a:pPr algn="l">
              <a:defRPr sz="1950" b="1">
                <a:solidFill>
                  <a:srgbClr val="FFFFFF"/>
                </a:solidFill>
              </a:defRPr>
            </a:pPr>
            <a:r>
              <a:rPr sz="1950" b="1" dirty="0">
                <a:solidFill>
                  <a:srgbClr val="FFFFFF"/>
                </a:solidFill>
              </a:rPr>
              <a:t>18,202 underlying images</a:t>
            </a:r>
          </a:p>
        </p:txBody>
      </p:sp>
      <p:sp>
        <p:nvSpPr>
          <p:cNvPr id="180" name="Alignment audit box">
            <a:extLst>
              <a:ext uri="{FF2B5EF4-FFF2-40B4-BE49-F238E27FC236}">
                <a16:creationId xmlns:a16="http://schemas.microsoft.com/office/drawing/2014/main" id="{121AAEF2-5007-4B24-AE54-E25393EBE38A}"/>
              </a:ext>
            </a:extLst>
          </p:cNvPr>
          <p:cNvSpPr>
            <a:spLocks noGrp="1"/>
          </p:cNvSpPr>
          <p:nvPr/>
        </p:nvSpPr>
        <p:spPr>
          <a:xfrm>
            <a:off x="23049053" y="12429272"/>
            <a:ext cx="6030471" cy="1095375"/>
          </a:xfrm>
          <a:prstGeom prst="roundRect">
            <a:avLst>
              <a:gd name="adj" fmla="val 6957"/>
            </a:avLst>
          </a:prstGeom>
          <a:solidFill>
            <a:srgbClr val="173B5D"/>
          </a:solidFill>
          <a:ln w="0">
            <a:noFill/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81" name="Alignment audit">
            <a:extLst>
              <a:ext uri="{FF2B5EF4-FFF2-40B4-BE49-F238E27FC236}">
                <a16:creationId xmlns:a16="http://schemas.microsoft.com/office/drawing/2014/main" id="{EE5092BA-35A2-423F-A180-5671A772B1F9}"/>
              </a:ext>
            </a:extLst>
          </p:cNvPr>
          <p:cNvSpPr>
            <a:spLocks noGrp="1"/>
          </p:cNvSpPr>
          <p:nvPr/>
        </p:nvSpPr>
        <p:spPr>
          <a:xfrm>
            <a:off x="23225466" y="12615428"/>
            <a:ext cx="62388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FFFFFF"/>
                </a:solidFill>
              </a:rPr>
              <a:t>ALL 8 DATASET × SEED BLOCKS PASSED</a:t>
            </a:r>
          </a:p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 dirty="0">
                <a:solidFill>
                  <a:srgbClr val="FFFFFF"/>
                </a:solidFill>
              </a:rPr>
              <a:t>0 missing keys  •  0 extra keys  •  0 identity mismatches</a:t>
            </a:r>
          </a:p>
        </p:txBody>
      </p:sp>
      <p:sp>
        <p:nvSpPr>
          <p:cNvPr id="182" name="STL heading">
            <a:extLst>
              <a:ext uri="{FF2B5EF4-FFF2-40B4-BE49-F238E27FC236}">
                <a16:creationId xmlns:a16="http://schemas.microsoft.com/office/drawing/2014/main" id="{C8C68058-65F4-4149-B072-5B4A7C45FDD0}"/>
              </a:ext>
            </a:extLst>
          </p:cNvPr>
          <p:cNvSpPr>
            <a:spLocks noGrp="1"/>
          </p:cNvSpPr>
          <p:nvPr/>
        </p:nvSpPr>
        <p:spPr>
          <a:xfrm>
            <a:off x="23390132" y="13821208"/>
            <a:ext cx="66198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1">
                <a:solidFill>
                  <a:srgbClr val="B58CFF"/>
                </a:solidFill>
              </a:defRPr>
            </a:pPr>
            <a:r>
              <a:rPr sz="2025" b="1" dirty="0">
                <a:solidFill>
                  <a:srgbClr val="B58CFF"/>
                </a:solidFill>
              </a:rPr>
              <a:t>STL-10 COMPLEMENTARY SUCCESSES</a:t>
            </a:r>
          </a:p>
        </p:txBody>
      </p:sp>
      <p:sp>
        <p:nvSpPr>
          <p:cNvPr id="183" name="CNN outcome">
            <a:extLst>
              <a:ext uri="{FF2B5EF4-FFF2-40B4-BE49-F238E27FC236}">
                <a16:creationId xmlns:a16="http://schemas.microsoft.com/office/drawing/2014/main" id="{8F7F3EAB-4414-4B43-97C8-2F4201899864}"/>
              </a:ext>
            </a:extLst>
          </p:cNvPr>
          <p:cNvSpPr>
            <a:spLocks noGrp="1"/>
          </p:cNvSpPr>
          <p:nvPr/>
        </p:nvSpPr>
        <p:spPr>
          <a:xfrm>
            <a:off x="22633457" y="14457264"/>
            <a:ext cx="3190875" cy="2095500"/>
          </a:xfrm>
          <a:prstGeom prst="roundRect">
            <a:avLst>
              <a:gd name="adj" fmla="val 3636"/>
            </a:avLst>
          </a:prstGeom>
          <a:solidFill>
            <a:srgbClr val="3E4974"/>
          </a:solidFill>
          <a:ln w="0">
            <a:noFill/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84" name="CNN outcome number">
            <a:extLst>
              <a:ext uri="{FF2B5EF4-FFF2-40B4-BE49-F238E27FC236}">
                <a16:creationId xmlns:a16="http://schemas.microsoft.com/office/drawing/2014/main" id="{45AF34E0-8434-459E-85C4-4523B8DD141D}"/>
              </a:ext>
            </a:extLst>
          </p:cNvPr>
          <p:cNvSpPr>
            <a:spLocks noGrp="1"/>
          </p:cNvSpPr>
          <p:nvPr/>
        </p:nvSpPr>
        <p:spPr>
          <a:xfrm>
            <a:off x="22724526" y="14652712"/>
            <a:ext cx="2809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450" b="1">
                <a:solidFill>
                  <a:srgbClr val="B58CFF"/>
                </a:solidFill>
              </a:defRPr>
            </a:pPr>
            <a:r>
              <a:rPr sz="3450" b="1" dirty="0">
                <a:solidFill>
                  <a:srgbClr val="B58CFF"/>
                </a:solidFill>
              </a:rPr>
              <a:t>2,466</a:t>
            </a:r>
          </a:p>
        </p:txBody>
      </p:sp>
      <p:sp>
        <p:nvSpPr>
          <p:cNvPr id="185" name="CNN outcome copy">
            <a:extLst>
              <a:ext uri="{FF2B5EF4-FFF2-40B4-BE49-F238E27FC236}">
                <a16:creationId xmlns:a16="http://schemas.microsoft.com/office/drawing/2014/main" id="{57C51ADD-4D32-4E02-8E6E-736CBB9F0C46}"/>
              </a:ext>
            </a:extLst>
          </p:cNvPr>
          <p:cNvSpPr>
            <a:spLocks noGrp="1"/>
          </p:cNvSpPr>
          <p:nvPr/>
        </p:nvSpPr>
        <p:spPr>
          <a:xfrm>
            <a:off x="22843594" y="15344316"/>
            <a:ext cx="2714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0">
                <a:solidFill>
                  <a:srgbClr val="FFFFFF"/>
                </a:solidFill>
              </a:defRPr>
            </a:pPr>
            <a:r>
              <a:rPr sz="1875" b="0" dirty="0">
                <a:solidFill>
                  <a:srgbClr val="FFFFFF"/>
                </a:solidFill>
              </a:rPr>
              <a:t>observations where CNN was correct while both GP and EOH failed</a:t>
            </a:r>
          </a:p>
        </p:txBody>
      </p:sp>
      <p:sp>
        <p:nvSpPr>
          <p:cNvPr id="186" name="GP outcome">
            <a:extLst>
              <a:ext uri="{FF2B5EF4-FFF2-40B4-BE49-F238E27FC236}">
                <a16:creationId xmlns:a16="http://schemas.microsoft.com/office/drawing/2014/main" id="{ADB8BC36-A1E9-4535-A9D9-EFF2CE2105D4}"/>
              </a:ext>
            </a:extLst>
          </p:cNvPr>
          <p:cNvSpPr>
            <a:spLocks noGrp="1"/>
          </p:cNvSpPr>
          <p:nvPr/>
        </p:nvSpPr>
        <p:spPr>
          <a:xfrm>
            <a:off x="26160413" y="14447436"/>
            <a:ext cx="3190875" cy="2095500"/>
          </a:xfrm>
          <a:prstGeom prst="roundRect">
            <a:avLst>
              <a:gd name="adj" fmla="val 3636"/>
            </a:avLst>
          </a:prstGeom>
          <a:solidFill>
            <a:srgbClr val="315C52"/>
          </a:solidFill>
          <a:ln w="0">
            <a:noFill/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87" name="GP outcome number">
            <a:extLst>
              <a:ext uri="{FF2B5EF4-FFF2-40B4-BE49-F238E27FC236}">
                <a16:creationId xmlns:a16="http://schemas.microsoft.com/office/drawing/2014/main" id="{CF124400-6C8B-4FFE-994C-C969B26EFE95}"/>
              </a:ext>
            </a:extLst>
          </p:cNvPr>
          <p:cNvSpPr>
            <a:spLocks noGrp="1"/>
          </p:cNvSpPr>
          <p:nvPr/>
        </p:nvSpPr>
        <p:spPr>
          <a:xfrm>
            <a:off x="26249298" y="14626159"/>
            <a:ext cx="2809875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450" b="1">
                <a:solidFill>
                  <a:srgbClr val="9FE870"/>
                </a:solidFill>
              </a:defRPr>
            </a:pPr>
            <a:r>
              <a:rPr sz="3450" b="1" dirty="0">
                <a:solidFill>
                  <a:srgbClr val="9FE870"/>
                </a:solidFill>
              </a:rPr>
              <a:t>4,474</a:t>
            </a:r>
          </a:p>
        </p:txBody>
      </p:sp>
      <p:sp>
        <p:nvSpPr>
          <p:cNvPr id="188" name="GP outcome copy">
            <a:extLst>
              <a:ext uri="{FF2B5EF4-FFF2-40B4-BE49-F238E27FC236}">
                <a16:creationId xmlns:a16="http://schemas.microsoft.com/office/drawing/2014/main" id="{3F42ABA5-E4B6-4D86-83DE-1D1E5867EB67}"/>
              </a:ext>
            </a:extLst>
          </p:cNvPr>
          <p:cNvSpPr>
            <a:spLocks noGrp="1"/>
          </p:cNvSpPr>
          <p:nvPr/>
        </p:nvSpPr>
        <p:spPr>
          <a:xfrm>
            <a:off x="26322838" y="15240000"/>
            <a:ext cx="2714625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0">
                <a:solidFill>
                  <a:srgbClr val="FFFFFF"/>
                </a:solidFill>
              </a:defRPr>
            </a:pPr>
            <a:r>
              <a:rPr sz="1875" b="0" dirty="0">
                <a:solidFill>
                  <a:srgbClr val="FFFFFF"/>
                </a:solidFill>
              </a:rPr>
              <a:t>observations where at least one GP method was correct while CNN failed</a:t>
            </a:r>
          </a:p>
        </p:txBody>
      </p:sp>
      <p:sp>
        <p:nvSpPr>
          <p:cNvPr id="189" name="Image analysis interpretation">
            <a:extLst>
              <a:ext uri="{FF2B5EF4-FFF2-40B4-BE49-F238E27FC236}">
                <a16:creationId xmlns:a16="http://schemas.microsoft.com/office/drawing/2014/main" id="{88DCF3A5-1830-49D1-8350-6722A0AED28F}"/>
              </a:ext>
            </a:extLst>
          </p:cNvPr>
          <p:cNvSpPr>
            <a:spLocks noGrp="1"/>
          </p:cNvSpPr>
          <p:nvPr/>
        </p:nvSpPr>
        <p:spPr>
          <a:xfrm>
            <a:off x="22826663" y="16723419"/>
            <a:ext cx="652462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025" b="0">
                <a:solidFill>
                  <a:srgbClr val="FFFFFF"/>
                </a:solidFill>
              </a:defRPr>
            </a:pPr>
            <a:r>
              <a:rPr sz="2025" b="0" dirty="0">
                <a:solidFill>
                  <a:srgbClr val="FFFFFF"/>
                </a:solidFill>
              </a:rPr>
              <a:t>Aggregate scores conceal image-specific strengths and failures. Interpretable feature search and neural models often solve different cases—even when their overall scores are similar.</a:t>
            </a:r>
          </a:p>
        </p:txBody>
      </p:sp>
      <p:sp>
        <p:nvSpPr>
          <p:cNvPr id="190" name="Final conclusion">
            <a:extLst>
              <a:ext uri="{FF2B5EF4-FFF2-40B4-BE49-F238E27FC236}">
                <a16:creationId xmlns:a16="http://schemas.microsoft.com/office/drawing/2014/main" id="{154F1BEC-4F4A-4CF7-BF50-20FFA001DF10}"/>
              </a:ext>
            </a:extLst>
          </p:cNvPr>
          <p:cNvSpPr>
            <a:spLocks noGrp="1"/>
          </p:cNvSpPr>
          <p:nvPr/>
        </p:nvSpPr>
        <p:spPr>
          <a:xfrm>
            <a:off x="22752000" y="18216176"/>
            <a:ext cx="6619875" cy="809625"/>
          </a:xfrm>
          <a:prstGeom prst="roundRect">
            <a:avLst>
              <a:gd name="adj" fmla="val 9412"/>
            </a:avLst>
          </a:prstGeom>
          <a:solidFill>
            <a:srgbClr val="9FE870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1" name="Final conclusion text">
            <a:extLst>
              <a:ext uri="{FF2B5EF4-FFF2-40B4-BE49-F238E27FC236}">
                <a16:creationId xmlns:a16="http://schemas.microsoft.com/office/drawing/2014/main" id="{FFE6F2E9-45DA-49AB-A84C-EDEC5B80D3C4}"/>
              </a:ext>
            </a:extLst>
          </p:cNvPr>
          <p:cNvSpPr>
            <a:spLocks noGrp="1"/>
          </p:cNvSpPr>
          <p:nvPr/>
        </p:nvSpPr>
        <p:spPr>
          <a:xfrm>
            <a:off x="22878716" y="18429003"/>
            <a:ext cx="62388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725" b="1">
                <a:solidFill>
                  <a:srgbClr val="173553"/>
                </a:solidFill>
              </a:defRPr>
            </a:pPr>
            <a:r>
              <a:rPr sz="1725" b="1" dirty="0">
                <a:solidFill>
                  <a:srgbClr val="173553"/>
                </a:solidFill>
              </a:rPr>
              <a:t>NO SINGLE REPRESENTATION WINS EVERYWHERE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6C7FE7-DF44-0D7D-1464-83518644D766}"/>
              </a:ext>
            </a:extLst>
          </p:cNvPr>
          <p:cNvSpPr>
            <a:spLocks noGrp="1"/>
          </p:cNvSpPr>
          <p:nvPr/>
        </p:nvSpPr>
        <p:spPr>
          <a:xfrm>
            <a:off x="195369" y="11134412"/>
            <a:ext cx="29742997" cy="60443"/>
          </a:xfrm>
          <a:prstGeom prst="rect">
            <a:avLst/>
          </a:prstGeom>
          <a:solidFill>
            <a:srgbClr val="8EA927"/>
          </a:solidFill>
          <a:ln>
            <a:solidFill>
              <a:srgbClr val="8EA9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19FC91-0FB2-11C5-AB0B-F1E7B214C9BB}"/>
              </a:ext>
            </a:extLst>
          </p:cNvPr>
          <p:cNvSpPr>
            <a:spLocks noGrp="1"/>
          </p:cNvSpPr>
          <p:nvPr/>
        </p:nvSpPr>
        <p:spPr>
          <a:xfrm>
            <a:off x="234900" y="19490645"/>
            <a:ext cx="29760894" cy="103356"/>
          </a:xfrm>
          <a:prstGeom prst="rect">
            <a:avLst/>
          </a:prstGeom>
          <a:solidFill>
            <a:srgbClr val="8EA927"/>
          </a:solidFill>
          <a:ln>
            <a:solidFill>
              <a:srgbClr val="8EA92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Section 5 title">
            <a:extLst>
              <a:ext uri="{FF2B5EF4-FFF2-40B4-BE49-F238E27FC236}">
                <a16:creationId xmlns:a16="http://schemas.microsoft.com/office/drawing/2014/main" id="{D53A4E8C-BE95-E52F-3E2A-E321AD1A2C4B}"/>
              </a:ext>
            </a:extLst>
          </p:cNvPr>
          <p:cNvSpPr>
            <a:spLocks noGrp="1"/>
          </p:cNvSpPr>
          <p:nvPr/>
        </p:nvSpPr>
        <p:spPr>
          <a:xfrm>
            <a:off x="10627551" y="10555771"/>
            <a:ext cx="10295422" cy="6508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>
                <a:solidFill>
                  <a:srgbClr val="FFFFFF"/>
                </a:solidFill>
              </a:defRPr>
            </a:pPr>
            <a:r>
              <a:rPr sz="3450" b="1" dirty="0">
                <a:solidFill>
                  <a:srgbClr val="FFFFFF"/>
                </a:solidFill>
              </a:rPr>
              <a:t>5. EXPLAINING TWO MODELS ON THE SAME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5ECBA8-1D94-D46D-F339-B3D339BD4013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t="9528" b="10949"/>
          <a:stretch>
            <a:fillRect/>
          </a:stretch>
        </p:blipFill>
        <p:spPr>
          <a:xfrm>
            <a:off x="7070050" y="3228768"/>
            <a:ext cx="7982556" cy="5424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F08468-96F4-304E-5F99-C771B9654114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14085"/>
          <a:stretch>
            <a:fillRect/>
          </a:stretch>
        </p:blipFill>
        <p:spPr>
          <a:xfrm>
            <a:off x="19686186" y="3226429"/>
            <a:ext cx="7532454" cy="56176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60E7CD6-80F6-4755-9D83-64E613739CA2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271328" y="3216926"/>
            <a:ext cx="6164196" cy="58483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30EEB0-AAAC-54E0-0ECA-05AA910D626C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16429" y="15160521"/>
            <a:ext cx="6295271" cy="326376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29A846D-7675-838E-7CE5-3809BF5260F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4"/>
          <a:stretch>
            <a:fillRect/>
          </a:stretch>
        </p:blipFill>
        <p:spPr>
          <a:xfrm>
            <a:off x="219373" y="11541016"/>
            <a:ext cx="6609827" cy="48693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549A61F-3DDD-CCEC-3AF3-965AE0A2B22A}"/>
              </a:ext>
            </a:extLst>
      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10547900" y="7637931"/>
            <a:ext cx="278339" cy="23009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3AD5211-E7B1-766E-9BC8-00B40685401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7293156" y="5278012"/>
            <a:ext cx="5730737" cy="78492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1951BA7-DD86-A381-8FFB-54FEA8EBC96C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258604" y="6056039"/>
            <a:ext cx="5720816" cy="94099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F72E3B2-56FF-D30F-FA40-C6655CDC2CBC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261642" y="7836579"/>
            <a:ext cx="5241965" cy="80590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1F6B01F-A7D6-44AC-1F51-92EAD5DFB530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7286330" y="8614877"/>
            <a:ext cx="5370603" cy="66985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6922E14-EBD4-3C8A-3A82-61BC94EFDAA7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285282" y="9234621"/>
            <a:ext cx="5372699" cy="74794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07DE9665-38A5-E296-73E8-49771E9B52B8}"/>
              </a:ext>
            </a:extLst>
          </p:cNvPr>
          <p:cNvPicPr>
            <a:picLocks noChangeAspect="1"/>
          </p:cNvPicPr>
          <p:nvPr/>
        </p:nvPicPr>
        <p:blipFill>
          <a:blip r:embed="rId48"/>
          <a:srcRect l="7052"/>
          <a:stretch>
            <a:fillRect/>
          </a:stretch>
        </p:blipFill>
        <p:spPr>
          <a:xfrm>
            <a:off x="7535734" y="6926243"/>
            <a:ext cx="4273016" cy="913971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40C3873B-AF77-756E-1D41-F69F8B612A20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636739" y="9910725"/>
            <a:ext cx="4612562" cy="33374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D76E89A6-9D45-B5CB-4240-60CFA0600E04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600246" y="7761376"/>
            <a:ext cx="4612562" cy="9421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D6B58C98-8BCF-FB33-559D-A4C9AA2A7246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11709596" y="6940161"/>
            <a:ext cx="1830218" cy="927864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27C44F67-0D01-0293-C220-3E6FD47F85C4}"/>
              </a:ext>
            </a:extLst>
      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7348920" y="7000535"/>
            <a:ext cx="228042" cy="886865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546B4269-05AD-851D-E2C6-266F4ECB46E8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310185" y="7042539"/>
            <a:ext cx="198946" cy="24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170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470</Words>
  <Application>Microsoft Office PowerPoint</Application>
  <DocSecurity>0</DocSecurity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Sans Serif Collection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Davies, James (davies73) (Student)</cp:lastModifiedBy>
  <cp:revision>2</cp:revision>
  <dcterms:created xsi:type="dcterms:W3CDTF">2026-09-07T20:42:00Z</dcterms:created>
  <dcterms:modified xsi:type="dcterms:W3CDTF">2026-09-07T22:15:26Z</dcterms:modified>
</cp:coreProperties>
</file>